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4630400" cy="8229600"/>
  <p:notesSz cx="8229600" cy="14630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4F832DB5-5574-4999-82C3-3386FFCFD0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E65DEC-3707-4D91-A141-7F58C11F83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06D5C-1EB5-4C3D-861F-98954ABE4CCB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19753CF-D4D8-41C5-BF74-F251B040B81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CC695C-A5F7-453D-AA62-0BCC276ED1A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9B8E6-B1AD-4AB2-AA8F-F609999C6C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20872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09574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0107A-363D-37B5-7AE5-EE58DA35C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87D70D-0160-86CF-E955-512ED0A57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DD4309-D832-58B8-763B-6857B7D54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511EB-A03E-D754-48FD-54FB8785F4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35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04;p25">
            <a:extLst>
              <a:ext uri="{FF2B5EF4-FFF2-40B4-BE49-F238E27FC236}">
                <a16:creationId xmlns:a16="http://schemas.microsoft.com/office/drawing/2014/main" id="{6C65BD4A-8A59-93B7-94A3-40DB3DD4A58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660800" cy="822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46280" tIns="73120" rIns="146280" bIns="7312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ru-RU" dirty="0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3928" y="1104817"/>
            <a:ext cx="7235088" cy="517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Повышение операционной эффективности за счёт автоматизации сервиса транспортных заявок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213928" y="5166278"/>
            <a:ext cx="7235088" cy="1513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Направление</a:t>
            </a: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09.03.02 "Информационные системы и технологии"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203;p25">
            <a:extLst>
              <a:ext uri="{FF2B5EF4-FFF2-40B4-BE49-F238E27FC236}">
                <a16:creationId xmlns:a16="http://schemas.microsoft.com/office/drawing/2014/main" id="{C5EB2CAA-D157-A8BB-B8F9-1EC539C89DA1}"/>
              </a:ext>
            </a:extLst>
          </p:cNvPr>
          <p:cNvSpPr txBox="1">
            <a:spLocks/>
          </p:cNvSpPr>
          <p:nvPr/>
        </p:nvSpPr>
        <p:spPr>
          <a:xfrm>
            <a:off x="8339040" y="425520"/>
            <a:ext cx="6291360" cy="737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0" tIns="73120" rIns="146280" bIns="73120" anchor="t" anchorCtr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SzPct val="100000"/>
              <a:buFont typeface="Arial" pitchFamily="34" charset="0"/>
              <a:buNone/>
            </a:pPr>
            <a:endParaRPr lang="ru-RU" dirty="0"/>
          </a:p>
          <a:p>
            <a:pPr marL="0" indent="0">
              <a:spcBef>
                <a:spcPts val="947"/>
              </a:spcBef>
              <a:buSzPct val="100000"/>
              <a:buFont typeface="Arial" pitchFamily="34" charset="0"/>
              <a:buNone/>
            </a:pPr>
            <a:r>
              <a:rPr lang="ru-RU" dirty="0"/>
              <a:t>               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СГУВТ</a:t>
            </a:r>
            <a:endParaRPr lang="ru-RU" dirty="0"/>
          </a:p>
          <a:p>
            <a:pPr marL="0" indent="0">
              <a:spcBef>
                <a:spcPts val="947"/>
              </a:spcBef>
              <a:buSzPct val="100000"/>
              <a:buFont typeface="Arial" pitchFamily="34" charset="0"/>
              <a:buNone/>
            </a:pPr>
            <a:endParaRPr lang="ru-RU" dirty="0"/>
          </a:p>
          <a:p>
            <a:pPr marL="0" indent="0" algn="ctr">
              <a:spcBef>
                <a:spcPts val="533"/>
              </a:spcBef>
              <a:buSzPct val="100000"/>
              <a:buFont typeface="Arial" pitchFamily="34" charset="0"/>
              <a:buNone/>
            </a:pPr>
            <a:r>
              <a:rPr lang="ru-RU" sz="2880" dirty="0">
                <a:latin typeface="Times New Roman"/>
                <a:ea typeface="Times New Roman"/>
                <a:cs typeface="Times New Roman"/>
                <a:sym typeface="Times New Roman"/>
              </a:rPr>
              <a:t>Сибирский государственный университет водного транспорта</a:t>
            </a:r>
            <a:endParaRPr lang="ru-RU" dirty="0"/>
          </a:p>
          <a:p>
            <a:pPr marL="0" indent="0" algn="ctr">
              <a:spcBef>
                <a:spcPts val="533"/>
              </a:spcBef>
              <a:buSzPct val="100000"/>
              <a:buFont typeface="Arial" pitchFamily="34" charset="0"/>
              <a:buNone/>
            </a:pPr>
            <a:r>
              <a:rPr lang="ru-RU" sz="2880" dirty="0">
                <a:latin typeface="Times New Roman"/>
                <a:ea typeface="Times New Roman"/>
                <a:cs typeface="Times New Roman"/>
                <a:sym typeface="Times New Roman"/>
              </a:rPr>
              <a:t>кафедра Информационных систем</a:t>
            </a:r>
            <a:endParaRPr lang="ru-RU" dirty="0"/>
          </a:p>
          <a:p>
            <a:pPr marL="0" indent="0">
              <a:spcBef>
                <a:spcPts val="533"/>
              </a:spcBef>
              <a:buSzPct val="100000"/>
              <a:buFont typeface="Arial" pitchFamily="34" charset="0"/>
              <a:buNone/>
            </a:pPr>
            <a:endParaRPr lang="ru-RU" sz="288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spcBef>
                <a:spcPts val="533"/>
              </a:spcBef>
              <a:buSzPct val="100000"/>
              <a:buFont typeface="Arial" pitchFamily="34" charset="0"/>
              <a:buNone/>
            </a:pPr>
            <a:endParaRPr lang="ru-RU" sz="288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spcBef>
                <a:spcPts val="710"/>
              </a:spcBef>
              <a:buSzPct val="100000"/>
              <a:buFont typeface="Arial" pitchFamily="34" charset="0"/>
              <a:buNone/>
            </a:pPr>
            <a:r>
              <a:rPr lang="ru-RU" sz="3480" b="1" dirty="0">
                <a:latin typeface="Times New Roman"/>
                <a:ea typeface="Times New Roman"/>
                <a:cs typeface="Times New Roman"/>
                <a:sym typeface="Times New Roman"/>
              </a:rPr>
              <a:t>Смирнов Пётр Владиславович</a:t>
            </a:r>
          </a:p>
          <a:p>
            <a:pPr marL="0" indent="0">
              <a:spcBef>
                <a:spcPts val="710"/>
              </a:spcBef>
              <a:buSzPct val="100000"/>
              <a:buFont typeface="Arial" pitchFamily="34" charset="0"/>
              <a:buNone/>
            </a:pPr>
            <a:r>
              <a:rPr lang="ru-RU" sz="3480" b="1" dirty="0">
                <a:latin typeface="Times New Roman"/>
                <a:ea typeface="Times New Roman"/>
                <a:cs typeface="Times New Roman"/>
                <a:sym typeface="Times New Roman"/>
              </a:rPr>
              <a:t>Ткаченко Данил </a:t>
            </a:r>
          </a:p>
          <a:p>
            <a:pPr marL="0" indent="0">
              <a:spcBef>
                <a:spcPts val="710"/>
              </a:spcBef>
              <a:buSzPct val="100000"/>
              <a:buFont typeface="Arial" pitchFamily="34" charset="0"/>
              <a:buNone/>
            </a:pPr>
            <a:r>
              <a:rPr lang="ru-RU" sz="3480" b="1" dirty="0">
                <a:latin typeface="Times New Roman"/>
                <a:ea typeface="Times New Roman"/>
                <a:cs typeface="Times New Roman"/>
                <a:sym typeface="Times New Roman"/>
              </a:rPr>
              <a:t>Витальевич </a:t>
            </a:r>
          </a:p>
          <a:p>
            <a:pPr marL="0" indent="0">
              <a:spcBef>
                <a:spcPts val="710"/>
              </a:spcBef>
              <a:buSzPct val="100000"/>
              <a:buFont typeface="Arial" pitchFamily="34" charset="0"/>
              <a:buNone/>
            </a:pPr>
            <a:endParaRPr lang="ru-RU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spcBef>
                <a:spcPts val="592"/>
              </a:spcBef>
              <a:buSzPct val="100000"/>
              <a:buFont typeface="Arial" pitchFamily="34" charset="0"/>
              <a:buNone/>
            </a:pPr>
            <a:r>
              <a:rPr lang="ru-RU" i="1" dirty="0">
                <a:latin typeface="Times New Roman"/>
                <a:ea typeface="Times New Roman"/>
                <a:cs typeface="Times New Roman"/>
                <a:sym typeface="Times New Roman"/>
              </a:rPr>
              <a:t>4 курс, ИТ-222</a:t>
            </a:r>
            <a:endParaRPr lang="ru-RU" dirty="0"/>
          </a:p>
          <a:p>
            <a:pPr marL="0" indent="0">
              <a:spcBef>
                <a:spcPts val="710"/>
              </a:spcBef>
              <a:buSzPct val="100000"/>
              <a:buFont typeface="Arial" pitchFamily="34" charset="0"/>
              <a:buNone/>
            </a:pPr>
            <a:endParaRPr lang="ru-RU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spcBef>
                <a:spcPts val="710"/>
              </a:spcBef>
              <a:buSzPct val="100000"/>
              <a:buFont typeface="Arial" pitchFamily="34" charset="0"/>
              <a:buNone/>
            </a:pPr>
            <a:endParaRPr lang="ru-RU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spcBef>
                <a:spcPts val="710"/>
              </a:spcBef>
              <a:buSzPct val="100000"/>
              <a:buFont typeface="Arial" pitchFamily="34" charset="0"/>
              <a:buNone/>
            </a:pPr>
            <a:endParaRPr lang="ru-RU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" name="Google Shape;205;p25" descr="1004-sguvt-v-g-yakutsk-43649">
            <a:extLst>
              <a:ext uri="{FF2B5EF4-FFF2-40B4-BE49-F238E27FC236}">
                <a16:creationId xmlns:a16="http://schemas.microsoft.com/office/drawing/2014/main" id="{E75525F2-274A-060C-5A18-AD5FC71BC95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81527" y="425520"/>
            <a:ext cx="1275815" cy="127581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6D7A071-9E0A-FE6C-43AA-0A7B6CF5E09D}"/>
              </a:ext>
            </a:extLst>
          </p:cNvPr>
          <p:cNvSpPr/>
          <p:nvPr/>
        </p:nvSpPr>
        <p:spPr>
          <a:xfrm>
            <a:off x="12221738" y="7326351"/>
            <a:ext cx="2273196" cy="825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5038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Аннотация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46162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Проблема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0605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Ручная обработка заявок на служебное такси занимает </a:t>
            </a:r>
            <a:r>
              <a:rPr lang="ru-RU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5</a:t>
            </a: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–</a:t>
            </a:r>
            <a:r>
              <a:rPr lang="ru-RU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25</a:t>
            </a: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минут на заявку, создавая высокую нагрузку на руководителей.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32928" y="346162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Решение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32928" y="4060508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Автоматизированная система на основе мессенджер-бота, веб-интерфейса и базы данных с модулями валидации и нормализации адресов.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872067" y="346162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Результат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872067" y="40605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Сокращение времени обработки до 2–3 минут, исключение ошибок и высвобождение времени руководителей.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342F543-FF22-C108-5EDB-FC29E487623B}"/>
              </a:ext>
            </a:extLst>
          </p:cNvPr>
          <p:cNvSpPr/>
          <p:nvPr/>
        </p:nvSpPr>
        <p:spPr>
          <a:xfrm>
            <a:off x="12221737" y="7384520"/>
            <a:ext cx="2297151" cy="825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90CB4D4D-02A9-45C4-9F2F-7D5E2AE7D785}"/>
              </a:ext>
            </a:extLst>
          </p:cNvPr>
          <p:cNvSpPr/>
          <p:nvPr/>
        </p:nvSpPr>
        <p:spPr>
          <a:xfrm>
            <a:off x="425026" y="159012"/>
            <a:ext cx="11215431" cy="705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Повышение операционной эффективности за счёт автоматизации сервиса транспортных заявок</a:t>
            </a:r>
          </a:p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Студентов ИТ-222 Смирнов П.В., Ткаченко Д.В.</a:t>
            </a:r>
          </a:p>
          <a:p>
            <a:pPr marL="0" indent="0" algn="l">
              <a:lnSpc>
                <a:spcPts val="2300"/>
              </a:lnSpc>
              <a:buNone/>
            </a:pPr>
            <a:endParaRPr lang="ru-RU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Noto Serif Medium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8D15E5B0-F0D6-4F78-9FB0-F5DAD39EE8D0}"/>
              </a:ext>
            </a:extLst>
          </p:cNvPr>
          <p:cNvSpPr/>
          <p:nvPr/>
        </p:nvSpPr>
        <p:spPr>
          <a:xfrm>
            <a:off x="13030386" y="7797115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1045726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Введение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793790" y="2130147"/>
            <a:ext cx="3664744" cy="3139202"/>
          </a:xfrm>
          <a:prstGeom prst="roundRect">
            <a:avLst>
              <a:gd name="adj" fmla="val 108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3"/>
          <p:cNvSpPr/>
          <p:nvPr/>
        </p:nvSpPr>
        <p:spPr>
          <a:xfrm>
            <a:off x="1020604" y="235696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Контекст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020604" y="2865120"/>
            <a:ext cx="321111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Цифровая трансформация требует повышения операционной эффективности через автоматизацию рутинных процессов.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685348" y="2130147"/>
            <a:ext cx="3664863" cy="3139202"/>
          </a:xfrm>
          <a:prstGeom prst="roundRect">
            <a:avLst>
              <a:gd name="adj" fmla="val 108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6"/>
          <p:cNvSpPr/>
          <p:nvPr/>
        </p:nvSpPr>
        <p:spPr>
          <a:xfrm>
            <a:off x="4912162" y="235696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Актуальность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912162" y="2865120"/>
            <a:ext cx="321123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Процесс заказа такси в финансовой организации требует 4–7 часов ежедневной работы руководителя.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793790" y="5496163"/>
            <a:ext cx="7556421" cy="168759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9"/>
          <p:cNvSpPr/>
          <p:nvPr/>
        </p:nvSpPr>
        <p:spPr>
          <a:xfrm>
            <a:off x="1020604" y="572297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Цель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020604" y="6231136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Обоснование методологии и описание результатов внедрения автоматизированной системы управления заявками.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5E11EA71-C915-447D-883F-2ACB129928BC}"/>
              </a:ext>
            </a:extLst>
          </p:cNvPr>
          <p:cNvSpPr/>
          <p:nvPr/>
        </p:nvSpPr>
        <p:spPr>
          <a:xfrm>
            <a:off x="425027" y="159012"/>
            <a:ext cx="8307679" cy="88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Повышение операционной эффективности за счёт автоматизации сервиса транспортных </a:t>
            </a:r>
          </a:p>
          <a:p>
            <a:pPr>
              <a:lnSpc>
                <a:spcPts val="2300"/>
              </a:lnSpc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заявок Студентов ИТ-222 Смирнов П.В., Ткаченко Д.В.</a:t>
            </a:r>
          </a:p>
          <a:p>
            <a:pPr marL="0" indent="0" algn="l">
              <a:lnSpc>
                <a:spcPts val="2300"/>
              </a:lnSpc>
              <a:buNone/>
            </a:pPr>
            <a:endParaRPr lang="ru-RU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Noto Serif Medium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422A5B6-1175-3407-A4DB-1396ADCAEB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6533" y="0"/>
            <a:ext cx="5453867" cy="8229600"/>
          </a:xfrm>
          <a:prstGeom prst="rect">
            <a:avLst/>
          </a:prstGeom>
        </p:spPr>
      </p:pic>
      <p:sp>
        <p:nvSpPr>
          <p:cNvPr id="17" name="Text 1">
            <a:extLst>
              <a:ext uri="{FF2B5EF4-FFF2-40B4-BE49-F238E27FC236}">
                <a16:creationId xmlns:a16="http://schemas.microsoft.com/office/drawing/2014/main" id="{57E7B27B-ABA1-48A5-A6FE-03690A70D351}"/>
              </a:ext>
            </a:extLst>
          </p:cNvPr>
          <p:cNvSpPr/>
          <p:nvPr/>
        </p:nvSpPr>
        <p:spPr>
          <a:xfrm>
            <a:off x="12638421" y="7677150"/>
            <a:ext cx="2011308" cy="55245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lnSpc>
                  <a:spcPts val="2100"/>
                </a:lnSpc>
              </a:pPr>
              <a:t>3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8485"/>
            <a:ext cx="635317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Теоретические основы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36637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366373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Реинжиниринг бизнес-процессов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644253" y="4246602"/>
            <a:ext cx="330815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Фундаментальное переосмысление и перепроектирование процессов для резких улучшений показателей.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336637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6356" y="3366373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Бережливое производство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086356" y="4246602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Устранение всех видов потерь: лишних перемещений, ожиданий, избыточной обработки.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3366373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28459" y="3366373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Методологии моделирования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0528459" y="4246602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BPMN, UML Use Case для анализа и проектирования процессов AS IS и TO BE.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780B06F-6415-7BC3-A352-B986D42DB898}"/>
              </a:ext>
            </a:extLst>
          </p:cNvPr>
          <p:cNvSpPr/>
          <p:nvPr/>
        </p:nvSpPr>
        <p:spPr>
          <a:xfrm>
            <a:off x="12221738" y="7326351"/>
            <a:ext cx="2308302" cy="825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4B561CB6-A8F5-4909-B51A-965AA8C8B8FB}"/>
              </a:ext>
            </a:extLst>
          </p:cNvPr>
          <p:cNvSpPr/>
          <p:nvPr/>
        </p:nvSpPr>
        <p:spPr>
          <a:xfrm>
            <a:off x="13030386" y="7797115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lnSpc>
                  <a:spcPts val="2100"/>
                </a:lnSpc>
              </a:pPr>
              <a:t>4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AB54FC7C-26C7-4CFC-8F0F-BF20183245FF}"/>
              </a:ext>
            </a:extLst>
          </p:cNvPr>
          <p:cNvSpPr/>
          <p:nvPr/>
        </p:nvSpPr>
        <p:spPr>
          <a:xfrm>
            <a:off x="425026" y="159012"/>
            <a:ext cx="11215431" cy="705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Повышение операционной эффективности за счёт автоматизации сервиса транспортных заявок</a:t>
            </a:r>
          </a:p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Студентов ИТ-222 Смирнов П.В., Ткаченко Д.В.</a:t>
            </a:r>
          </a:p>
          <a:p>
            <a:pPr marL="0" indent="0" algn="l">
              <a:lnSpc>
                <a:spcPts val="2300"/>
              </a:lnSpc>
              <a:buNone/>
            </a:pPr>
            <a:endParaRPr lang="ru-RU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Noto Serif Medium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2710" y="1197237"/>
            <a:ext cx="7201614" cy="569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Анализ текущего процесса (AS IS)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669850" y="1990130"/>
            <a:ext cx="7858605" cy="1002506"/>
          </a:xfrm>
          <a:prstGeom prst="roundRect">
            <a:avLst>
              <a:gd name="adj" fmla="val 10945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3"/>
          <p:cNvSpPr/>
          <p:nvPr/>
        </p:nvSpPr>
        <p:spPr>
          <a:xfrm>
            <a:off x="646990" y="1990130"/>
            <a:ext cx="91440" cy="1002506"/>
          </a:xfrm>
          <a:prstGeom prst="roundRect">
            <a:avLst>
              <a:gd name="adj" fmla="val 28481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4"/>
          <p:cNvSpPr/>
          <p:nvPr/>
        </p:nvSpPr>
        <p:spPr>
          <a:xfrm>
            <a:off x="934883" y="2186583"/>
            <a:ext cx="2410539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Высокая трудоёмкость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934883" y="2551033"/>
            <a:ext cx="7467362" cy="24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ru-RU" sz="13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5</a:t>
            </a:r>
            <a:r>
              <a:rPr lang="en-US" sz="13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–</a:t>
            </a:r>
            <a:r>
              <a:rPr lang="ru-RU" sz="13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25</a:t>
            </a:r>
            <a:r>
              <a:rPr lang="en-US" sz="13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минут на заявку при 10–15 заявках в </a:t>
            </a:r>
            <a:r>
              <a:rPr lang="en-US" sz="1350" dirty="0" err="1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день</a:t>
            </a:r>
            <a:r>
              <a:rPr lang="en-US" sz="13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=</a:t>
            </a:r>
            <a:r>
              <a:rPr lang="ru-RU" sz="13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~ 4 часов ручной работы.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B9620461-38E2-9C69-27FC-A3D301307AA9}"/>
              </a:ext>
            </a:extLst>
          </p:cNvPr>
          <p:cNvGrpSpPr/>
          <p:nvPr/>
        </p:nvGrpSpPr>
        <p:grpSpPr>
          <a:xfrm>
            <a:off x="8943748" y="1960347"/>
            <a:ext cx="5393168" cy="1217560"/>
            <a:chOff x="9121142" y="1960347"/>
            <a:chExt cx="5393168" cy="1217560"/>
          </a:xfrm>
        </p:grpSpPr>
        <p:sp>
          <p:nvSpPr>
            <p:cNvPr id="10" name="Shape 6"/>
            <p:cNvSpPr/>
            <p:nvPr/>
          </p:nvSpPr>
          <p:spPr>
            <a:xfrm>
              <a:off x="9156223" y="1970520"/>
              <a:ext cx="5358087" cy="1207387"/>
            </a:xfrm>
            <a:prstGeom prst="roundRect">
              <a:avLst>
                <a:gd name="adj" fmla="val 10945"/>
              </a:avLst>
            </a:prstGeom>
            <a:solidFill>
              <a:srgbClr val="FFFFFF"/>
            </a:solidFill>
            <a:ln w="22860">
              <a:solidFill>
                <a:srgbClr val="D8D4D4"/>
              </a:solidFill>
              <a:prstDash val="soli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Shape 7"/>
            <p:cNvSpPr/>
            <p:nvPr/>
          </p:nvSpPr>
          <p:spPr>
            <a:xfrm>
              <a:off x="9121142" y="1960347"/>
              <a:ext cx="61793" cy="1207387"/>
            </a:xfrm>
            <a:prstGeom prst="roundRect">
              <a:avLst>
                <a:gd name="adj" fmla="val 28481"/>
              </a:avLst>
            </a:prstGeom>
            <a:solidFill>
              <a:srgbClr val="E04F00"/>
            </a:solidFill>
            <a:ln/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Text 8"/>
            <p:cNvSpPr/>
            <p:nvPr/>
          </p:nvSpPr>
          <p:spPr>
            <a:xfrm>
              <a:off x="9409035" y="2156800"/>
              <a:ext cx="1539824" cy="3430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750" dirty="0">
                  <a:solidFill>
                    <a:srgbClr val="383838"/>
                  </a:solidFill>
                  <a:latin typeface="Times New Roman" panose="02020603050405020304" pitchFamily="18" charset="0"/>
                  <a:ea typeface="PT Serif" pitchFamily="34" charset="-122"/>
                  <a:cs typeface="Times New Roman" panose="02020603050405020304" pitchFamily="18" charset="0"/>
                </a:rPr>
                <a:t>Ошибки и потери</a:t>
              </a:r>
              <a:endParaRPr lang="en-US" sz="1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 9"/>
            <p:cNvSpPr/>
            <p:nvPr/>
          </p:nvSpPr>
          <p:spPr>
            <a:xfrm>
              <a:off x="9409035" y="2521250"/>
              <a:ext cx="5046228" cy="2952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1350" dirty="0">
                  <a:solidFill>
                    <a:srgbClr val="383838"/>
                  </a:solidFill>
                  <a:latin typeface="Times New Roman" panose="02020603050405020304" pitchFamily="18" charset="0"/>
                  <a:ea typeface="DM Sans" pitchFamily="34" charset="-122"/>
                  <a:cs typeface="Times New Roman" panose="02020603050405020304" pitchFamily="18" charset="0"/>
                </a:rPr>
                <a:t>Опечатки, пропущенные заявки, дублирование, </a:t>
              </a:r>
              <a:endParaRPr lang="ru-RU" sz="13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endParaRPr>
            </a:p>
            <a:p>
              <a:pPr marL="0" indent="0" algn="l">
                <a:lnSpc>
                  <a:spcPts val="1900"/>
                </a:lnSpc>
                <a:buNone/>
              </a:pPr>
              <a:r>
                <a:rPr lang="en-US" sz="1350" dirty="0" err="1">
                  <a:solidFill>
                    <a:srgbClr val="383838"/>
                  </a:solidFill>
                  <a:latin typeface="Times New Roman" panose="02020603050405020304" pitchFamily="18" charset="0"/>
                  <a:ea typeface="DM Sans" pitchFamily="34" charset="-122"/>
                  <a:cs typeface="Times New Roman" panose="02020603050405020304" pitchFamily="18" charset="0"/>
                </a:rPr>
                <a:t>отсутствие</a:t>
              </a:r>
              <a:r>
                <a:rPr lang="en-US" sz="1350" dirty="0">
                  <a:solidFill>
                    <a:srgbClr val="383838"/>
                  </a:solidFill>
                  <a:latin typeface="Times New Roman" panose="02020603050405020304" pitchFamily="18" charset="0"/>
                  <a:ea typeface="DM Sans" pitchFamily="34" charset="-122"/>
                  <a:cs typeface="Times New Roman" panose="02020603050405020304" pitchFamily="18" charset="0"/>
                </a:rPr>
                <a:t> проверки адресов.</a:t>
              </a:r>
              <a:endParaRPr lang="en-US" sz="13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395D11AC-3761-421D-C83C-67B78FEFD836}"/>
              </a:ext>
            </a:extLst>
          </p:cNvPr>
          <p:cNvGrpSpPr/>
          <p:nvPr/>
        </p:nvGrpSpPr>
        <p:grpSpPr>
          <a:xfrm>
            <a:off x="9005541" y="4114800"/>
            <a:ext cx="5402744" cy="1207387"/>
            <a:chOff x="9111565" y="3686497"/>
            <a:chExt cx="5402744" cy="1207387"/>
          </a:xfrm>
        </p:grpSpPr>
        <p:sp>
          <p:nvSpPr>
            <p:cNvPr id="14" name="Shape 10"/>
            <p:cNvSpPr/>
            <p:nvPr/>
          </p:nvSpPr>
          <p:spPr>
            <a:xfrm>
              <a:off x="9134424" y="3686497"/>
              <a:ext cx="5379885" cy="1207387"/>
            </a:xfrm>
            <a:prstGeom prst="roundRect">
              <a:avLst>
                <a:gd name="adj" fmla="val 10945"/>
              </a:avLst>
            </a:prstGeom>
            <a:solidFill>
              <a:srgbClr val="FFFFFF"/>
            </a:solidFill>
            <a:ln w="22860">
              <a:solidFill>
                <a:srgbClr val="D8D4D4"/>
              </a:solidFill>
              <a:prstDash val="soli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Shape 11"/>
            <p:cNvSpPr/>
            <p:nvPr/>
          </p:nvSpPr>
          <p:spPr>
            <a:xfrm>
              <a:off x="9111565" y="3686497"/>
              <a:ext cx="62044" cy="1207387"/>
            </a:xfrm>
            <a:prstGeom prst="roundRect">
              <a:avLst>
                <a:gd name="adj" fmla="val 28481"/>
              </a:avLst>
            </a:prstGeom>
            <a:solidFill>
              <a:srgbClr val="E04F00"/>
            </a:solidFill>
            <a:ln/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Text 12"/>
            <p:cNvSpPr/>
            <p:nvPr/>
          </p:nvSpPr>
          <p:spPr>
            <a:xfrm>
              <a:off x="9399458" y="3882951"/>
              <a:ext cx="2142777" cy="3430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750" dirty="0">
                  <a:solidFill>
                    <a:srgbClr val="383838"/>
                  </a:solidFill>
                  <a:latin typeface="Times New Roman" panose="02020603050405020304" pitchFamily="18" charset="0"/>
                  <a:ea typeface="PT Serif" pitchFamily="34" charset="-122"/>
                  <a:cs typeface="Times New Roman" panose="02020603050405020304" pitchFamily="18" charset="0"/>
                </a:rPr>
                <a:t>Разрозненная коммуникация</a:t>
              </a:r>
              <a:endParaRPr lang="en-US" sz="17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 13"/>
            <p:cNvSpPr/>
            <p:nvPr/>
          </p:nvSpPr>
          <p:spPr>
            <a:xfrm>
              <a:off x="9399458" y="4247400"/>
              <a:ext cx="5066757" cy="2952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1350" dirty="0">
                  <a:solidFill>
                    <a:srgbClr val="383838"/>
                  </a:solidFill>
                  <a:latin typeface="Times New Roman" panose="02020603050405020304" pitchFamily="18" charset="0"/>
                  <a:ea typeface="DM Sans" pitchFamily="34" charset="-122"/>
                  <a:cs typeface="Times New Roman" panose="02020603050405020304" pitchFamily="18" charset="0"/>
                </a:rPr>
                <a:t>Разные мессенджеры, почта — нет единого источника данных.</a:t>
              </a:r>
              <a:endParaRPr lang="en-US" sz="13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Shape 14"/>
          <p:cNvSpPr/>
          <p:nvPr/>
        </p:nvSpPr>
        <p:spPr>
          <a:xfrm>
            <a:off x="9044429" y="6118965"/>
            <a:ext cx="5338153" cy="1207386"/>
          </a:xfrm>
          <a:prstGeom prst="roundRect">
            <a:avLst>
              <a:gd name="adj" fmla="val 10945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5"/>
          <p:cNvSpPr/>
          <p:nvPr/>
        </p:nvSpPr>
        <p:spPr>
          <a:xfrm>
            <a:off x="9021569" y="6118965"/>
            <a:ext cx="61563" cy="1207386"/>
          </a:xfrm>
          <a:prstGeom prst="roundRect">
            <a:avLst>
              <a:gd name="adj" fmla="val 28481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6"/>
          <p:cNvSpPr/>
          <p:nvPr/>
        </p:nvSpPr>
        <p:spPr>
          <a:xfrm>
            <a:off x="9309462" y="6315418"/>
            <a:ext cx="1854254" cy="34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Отсутствие прозрачности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9309462" y="6679867"/>
            <a:ext cx="5027454" cy="29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Сотрудник не видит статус, руководитель без </a:t>
            </a:r>
            <a:r>
              <a:rPr lang="en-US" sz="1350" dirty="0" err="1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инструментов</a:t>
            </a:r>
            <a:r>
              <a:rPr lang="en-US" sz="13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</a:t>
            </a:r>
            <a:endParaRPr lang="ru-RU" sz="1350" dirty="0">
              <a:solidFill>
                <a:srgbClr val="383838"/>
              </a:solidFill>
              <a:latin typeface="Times New Roman" panose="02020603050405020304" pitchFamily="18" charset="0"/>
              <a:ea typeface="DM Sans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 err="1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оповещения</a:t>
            </a:r>
            <a:r>
              <a:rPr lang="en-US" sz="13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765DEF8-F560-61DA-8003-6CB6223CD9EA}"/>
              </a:ext>
            </a:extLst>
          </p:cNvPr>
          <p:cNvSpPr/>
          <p:nvPr/>
        </p:nvSpPr>
        <p:spPr>
          <a:xfrm>
            <a:off x="12091258" y="7326351"/>
            <a:ext cx="2408663" cy="825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4338DFF3-C259-40F1-8F1A-ACF913D954C4}"/>
              </a:ext>
            </a:extLst>
          </p:cNvPr>
          <p:cNvSpPr/>
          <p:nvPr/>
        </p:nvSpPr>
        <p:spPr>
          <a:xfrm>
            <a:off x="13030386" y="7797115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lnSpc>
                  <a:spcPts val="2100"/>
                </a:lnSpc>
              </a:pPr>
              <a:t>5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0">
            <a:extLst>
              <a:ext uri="{FF2B5EF4-FFF2-40B4-BE49-F238E27FC236}">
                <a16:creationId xmlns:a16="http://schemas.microsoft.com/office/drawing/2014/main" id="{69878792-333C-4230-B165-E0DCCDBC39E1}"/>
              </a:ext>
            </a:extLst>
          </p:cNvPr>
          <p:cNvSpPr/>
          <p:nvPr/>
        </p:nvSpPr>
        <p:spPr>
          <a:xfrm>
            <a:off x="692710" y="177001"/>
            <a:ext cx="13807212" cy="705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Повышение операционной эффективности за счёт автоматизации сервиса транспортных заявок </a:t>
            </a:r>
          </a:p>
          <a:p>
            <a:pPr>
              <a:lnSpc>
                <a:spcPts val="2300"/>
              </a:lnSpc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Студентов ИТ-222 Смирнов П.В., Ткаченко Д.В.</a:t>
            </a:r>
          </a:p>
          <a:p>
            <a:pPr marL="0" indent="0" algn="l">
              <a:lnSpc>
                <a:spcPts val="2300"/>
              </a:lnSpc>
              <a:buNone/>
            </a:pPr>
            <a:endParaRPr lang="ru-RU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Noto Serif Medium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E937B84E-1376-9AB9-7A5D-5A90A40BA2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65" t="710" r="1953" b="6586"/>
          <a:stretch>
            <a:fillRect/>
          </a:stretch>
        </p:blipFill>
        <p:spPr>
          <a:xfrm>
            <a:off x="605163" y="3072288"/>
            <a:ext cx="7858605" cy="48097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742405" y="810464"/>
            <a:ext cx="7610237" cy="1437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50"/>
              </a:lnSpc>
              <a:buNone/>
            </a:pPr>
            <a:r>
              <a:rPr lang="en-US" sz="450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Проектирование целевого процесса (TO BE)</a:t>
            </a:r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82" y="2363033"/>
            <a:ext cx="1095494" cy="131468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073950" y="2582108"/>
            <a:ext cx="2875836" cy="359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Сотрудник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2073950" y="3068360"/>
            <a:ext cx="6303169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Подача заявки через бота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82" y="3677722"/>
            <a:ext cx="1095494" cy="13146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073950" y="3896797"/>
            <a:ext cx="2875836" cy="359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Система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2073950" y="4383048"/>
            <a:ext cx="6303169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Валидация и нормализация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882" y="4992410"/>
            <a:ext cx="1095494" cy="131468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073950" y="5211485"/>
            <a:ext cx="2875836" cy="359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Руководитель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7"/>
          <p:cNvSpPr/>
          <p:nvPr/>
        </p:nvSpPr>
        <p:spPr>
          <a:xfrm>
            <a:off x="2073950" y="5697736"/>
            <a:ext cx="6303169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Одобрение в веб-интерфейсе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882" y="6307098"/>
            <a:ext cx="1095494" cy="131468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073950" y="6526173"/>
            <a:ext cx="2875836" cy="359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База данных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9"/>
          <p:cNvSpPr/>
          <p:nvPr/>
        </p:nvSpPr>
        <p:spPr>
          <a:xfrm>
            <a:off x="2073950" y="7012424"/>
            <a:ext cx="6303169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Хранение и отчёт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BCB7DCC7-4DC0-E361-8CF2-21B7238DD552}"/>
              </a:ext>
            </a:extLst>
          </p:cNvPr>
          <p:cNvSpPr/>
          <p:nvPr/>
        </p:nvSpPr>
        <p:spPr>
          <a:xfrm>
            <a:off x="338668" y="105042"/>
            <a:ext cx="8979654" cy="705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Повышение операционной эффективности за счёт автоматизации сервиса транспортных </a:t>
            </a:r>
          </a:p>
          <a:p>
            <a:pPr>
              <a:lnSpc>
                <a:spcPts val="2300"/>
              </a:lnSpc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заявок Студентов ИТ-222 Смирнов П.В., Ткаченко Д.В.</a:t>
            </a:r>
          </a:p>
          <a:p>
            <a:pPr marL="0" indent="0" algn="l">
              <a:lnSpc>
                <a:spcPts val="2300"/>
              </a:lnSpc>
              <a:buNone/>
            </a:pPr>
            <a:endParaRPr lang="ru-RU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Noto Serif Medium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75D29B86-3783-4095-8024-779D56691143}"/>
              </a:ext>
            </a:extLst>
          </p:cNvPr>
          <p:cNvSpPr/>
          <p:nvPr/>
        </p:nvSpPr>
        <p:spPr>
          <a:xfrm>
            <a:off x="12857356" y="7797115"/>
            <a:ext cx="1773044" cy="432485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lnSpc>
                  <a:spcPts val="2100"/>
                </a:lnSpc>
              </a:pPr>
              <a:t>6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6F329DA-40A3-8C8F-FE28-CE39705A133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084" r="2059" b="17572"/>
          <a:stretch>
            <a:fillRect/>
          </a:stretch>
        </p:blipFill>
        <p:spPr>
          <a:xfrm>
            <a:off x="6266259" y="2638425"/>
            <a:ext cx="7237141" cy="43260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4254" y="3298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2201585"/>
            <a:ext cx="660023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Оценка эффективности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93790" y="3399353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10-15x</a:t>
            </a:r>
            <a:endParaRPr lang="en-US" sz="5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93790" y="4431149"/>
            <a:ext cx="232981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Скорость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93790" y="4939308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Сокращение времени обработки одной заявки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3407093" y="3399353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90%</a:t>
            </a:r>
            <a:endParaRPr lang="en-US" sz="5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407093" y="4431149"/>
            <a:ext cx="232981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Точность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407093" y="4939308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Снижение ошибок ввода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020395" y="3399353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2.4M</a:t>
            </a:r>
            <a:endParaRPr lang="en-US" sz="5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020395" y="4431149"/>
            <a:ext cx="232981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Экономия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020395" y="4939308"/>
            <a:ext cx="2329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Рублей в год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DB9B7BF5-0DDF-2640-0EA9-5C2C46A26CBD}"/>
              </a:ext>
            </a:extLst>
          </p:cNvPr>
          <p:cNvSpPr/>
          <p:nvPr/>
        </p:nvSpPr>
        <p:spPr>
          <a:xfrm>
            <a:off x="164346" y="208122"/>
            <a:ext cx="8979654" cy="705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Повышение операционной эффективности за счёт автоматизации сервиса транспортных </a:t>
            </a:r>
          </a:p>
          <a:p>
            <a:pPr>
              <a:lnSpc>
                <a:spcPts val="2300"/>
              </a:lnSpc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заявок Студентов ИТ-222 Смирнов П.В., Ткаченко Д.В.</a:t>
            </a:r>
          </a:p>
          <a:p>
            <a:pPr marL="0" indent="0" algn="l">
              <a:lnSpc>
                <a:spcPts val="2300"/>
              </a:lnSpc>
              <a:buNone/>
            </a:pPr>
            <a:endParaRPr lang="ru-RU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Noto Serif Medium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80763B9-0B8F-2E83-9536-3D20C94646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4255" y="0"/>
            <a:ext cx="5486400" cy="8229600"/>
          </a:xfrm>
          <a:prstGeom prst="rect">
            <a:avLst/>
          </a:prstGeom>
        </p:spPr>
      </p:pic>
      <p:sp>
        <p:nvSpPr>
          <p:cNvPr id="17" name="Text 1">
            <a:extLst>
              <a:ext uri="{FF2B5EF4-FFF2-40B4-BE49-F238E27FC236}">
                <a16:creationId xmlns:a16="http://schemas.microsoft.com/office/drawing/2014/main" id="{12FFDA99-A1E2-46FD-A4F0-20E61B03EF71}"/>
              </a:ext>
            </a:extLst>
          </p:cNvPr>
          <p:cNvSpPr/>
          <p:nvPr/>
        </p:nvSpPr>
        <p:spPr>
          <a:xfrm>
            <a:off x="13030386" y="7797115"/>
            <a:ext cx="1600014" cy="432485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lnSpc>
                  <a:spcPts val="2100"/>
                </a:lnSpc>
              </a:pPr>
              <a:t>7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4253"/>
            <a:ext cx="645616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ru-RU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Макеты интерфейсов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F35A5D5-F008-031B-62CA-E735CDD9F383}"/>
              </a:ext>
            </a:extLst>
          </p:cNvPr>
          <p:cNvSpPr/>
          <p:nvPr/>
        </p:nvSpPr>
        <p:spPr>
          <a:xfrm>
            <a:off x="12221737" y="7326351"/>
            <a:ext cx="2263697" cy="825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B2484B98-D93E-43D7-B121-EAE1F0981FE1}"/>
              </a:ext>
            </a:extLst>
          </p:cNvPr>
          <p:cNvSpPr/>
          <p:nvPr/>
        </p:nvSpPr>
        <p:spPr>
          <a:xfrm>
            <a:off x="13030386" y="7797115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lnSpc>
                  <a:spcPts val="2100"/>
                </a:lnSpc>
              </a:pPr>
              <a:t>8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6551F6E5-4034-41FD-A137-4F544D9B8A8D}"/>
              </a:ext>
            </a:extLst>
          </p:cNvPr>
          <p:cNvSpPr/>
          <p:nvPr/>
        </p:nvSpPr>
        <p:spPr>
          <a:xfrm>
            <a:off x="425026" y="159012"/>
            <a:ext cx="11215431" cy="705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Повышение операционной эффективности за счёт автоматизации сервиса транспортных заявок</a:t>
            </a:r>
          </a:p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Студентов ИТ-222 Смирнов П.В., Ткаченко Д.В.</a:t>
            </a:r>
          </a:p>
          <a:p>
            <a:pPr marL="0" indent="0" algn="l">
              <a:lnSpc>
                <a:spcPts val="2300"/>
              </a:lnSpc>
              <a:buNone/>
            </a:pPr>
            <a:endParaRPr lang="ru-RU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Noto Serif Medium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26" name="Рисунок 1">
            <a:extLst>
              <a:ext uri="{FF2B5EF4-FFF2-40B4-BE49-F238E27FC236}">
                <a16:creationId xmlns:a16="http://schemas.microsoft.com/office/drawing/2014/main" id="{00F75DE2-A4AC-5FE5-6B8F-B9FAED502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169" y="1677075"/>
            <a:ext cx="8941225" cy="51140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F717647-0C52-558D-C8F8-B692B98B10AB}"/>
              </a:ext>
            </a:extLst>
          </p:cNvPr>
          <p:cNvSpPr txBox="1"/>
          <p:nvPr/>
        </p:nvSpPr>
        <p:spPr>
          <a:xfrm>
            <a:off x="4358168" y="7029649"/>
            <a:ext cx="4718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Макет веб интерфейса кабинета руководителя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C609D-05DE-87D9-0F7A-BD98C7074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CE261D-CDD0-1E5F-F990-0746EE361874}"/>
              </a:ext>
            </a:extLst>
          </p:cNvPr>
          <p:cNvSpPr/>
          <p:nvPr/>
        </p:nvSpPr>
        <p:spPr>
          <a:xfrm>
            <a:off x="793790" y="694253"/>
            <a:ext cx="645616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ru-RU" sz="465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Макеты интерфейсов</a:t>
            </a: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5661B42-7621-11EC-8F21-01389974CD2A}"/>
              </a:ext>
            </a:extLst>
          </p:cNvPr>
          <p:cNvSpPr/>
          <p:nvPr/>
        </p:nvSpPr>
        <p:spPr>
          <a:xfrm>
            <a:off x="12221737" y="7326351"/>
            <a:ext cx="2263697" cy="825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35645712-2CDC-D2B3-93E5-FCC957F8D21A}"/>
              </a:ext>
            </a:extLst>
          </p:cNvPr>
          <p:cNvSpPr/>
          <p:nvPr/>
        </p:nvSpPr>
        <p:spPr>
          <a:xfrm>
            <a:off x="13030386" y="7797115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lnSpc>
                  <a:spcPts val="2100"/>
                </a:lnSpc>
              </a:pPr>
              <a:t>9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AF1708FC-747F-19D6-C99A-B778480572C6}"/>
              </a:ext>
            </a:extLst>
          </p:cNvPr>
          <p:cNvSpPr/>
          <p:nvPr/>
        </p:nvSpPr>
        <p:spPr>
          <a:xfrm>
            <a:off x="425026" y="159012"/>
            <a:ext cx="11215431" cy="705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Повышение операционной эффективности за счёт автоматизации сервиса транспортных заявок</a:t>
            </a:r>
          </a:p>
          <a:p>
            <a:pPr marL="0" indent="0" algn="l">
              <a:lnSpc>
                <a:spcPts val="2300"/>
              </a:lnSpc>
              <a:buNone/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Студентов ИТ-222 Смирнов П.В., Ткаченко Д.В.</a:t>
            </a:r>
          </a:p>
          <a:p>
            <a:pPr marL="0" indent="0" algn="l">
              <a:lnSpc>
                <a:spcPts val="2300"/>
              </a:lnSpc>
              <a:buNone/>
            </a:pPr>
            <a:endParaRPr lang="ru-RU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Noto Serif Medium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D838693D-9AAC-489D-7BBA-866534F20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769" y="1639217"/>
            <a:ext cx="8129240" cy="54379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88CCD-4B5C-FAF1-91D8-44F99C8EC6DF}"/>
              </a:ext>
            </a:extLst>
          </p:cNvPr>
          <p:cNvSpPr txBox="1"/>
          <p:nvPr/>
        </p:nvSpPr>
        <p:spPr>
          <a:xfrm>
            <a:off x="5508890" y="7277829"/>
            <a:ext cx="7521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Макет интерфейса бота</a:t>
            </a:r>
          </a:p>
        </p:txBody>
      </p:sp>
    </p:spTree>
    <p:extLst>
      <p:ext uri="{BB962C8B-B14F-4D97-AF65-F5344CB8AC3E}">
        <p14:creationId xmlns:p14="http://schemas.microsoft.com/office/powerpoint/2010/main" val="1347187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33492" y="773311"/>
            <a:ext cx="4103727" cy="512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Заключение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6033492" y="1447800"/>
            <a:ext cx="8049816" cy="1421368"/>
          </a:xfrm>
          <a:prstGeom prst="roundRect">
            <a:avLst>
              <a:gd name="adj" fmla="val 165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3"/>
          <p:cNvSpPr/>
          <p:nvPr/>
        </p:nvSpPr>
        <p:spPr>
          <a:xfrm>
            <a:off x="6189821" y="1604129"/>
            <a:ext cx="468987" cy="468987"/>
          </a:xfrm>
          <a:prstGeom prst="roundRect">
            <a:avLst>
              <a:gd name="adj" fmla="val 19495392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8766" y="1733074"/>
            <a:ext cx="210979" cy="21097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89821" y="2180749"/>
            <a:ext cx="2051804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Детальный анализ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6189821" y="2501622"/>
            <a:ext cx="7737158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 err="1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Использование</a:t>
            </a:r>
            <a:r>
              <a:rPr lang="en-US" sz="12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 BPMN для моделирования процессов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6033492" y="2976801"/>
            <a:ext cx="8049816" cy="1421368"/>
          </a:xfrm>
          <a:prstGeom prst="roundRect">
            <a:avLst>
              <a:gd name="adj" fmla="val 165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7"/>
          <p:cNvSpPr/>
          <p:nvPr/>
        </p:nvSpPr>
        <p:spPr>
          <a:xfrm>
            <a:off x="6189821" y="3133130"/>
            <a:ext cx="468987" cy="468987"/>
          </a:xfrm>
          <a:prstGeom prst="roundRect">
            <a:avLst>
              <a:gd name="adj" fmla="val 19495392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18766" y="3262074"/>
            <a:ext cx="210979" cy="21097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89821" y="3709749"/>
            <a:ext cx="2051804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Вовлечение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6189821" y="4030623"/>
            <a:ext cx="7737158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Участие пользователей на этапе проектирования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6033492" y="4505801"/>
            <a:ext cx="8049816" cy="1421368"/>
          </a:xfrm>
          <a:prstGeom prst="roundRect">
            <a:avLst>
              <a:gd name="adj" fmla="val 165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1"/>
          <p:cNvSpPr/>
          <p:nvPr/>
        </p:nvSpPr>
        <p:spPr>
          <a:xfrm>
            <a:off x="6189821" y="4662130"/>
            <a:ext cx="468987" cy="468987"/>
          </a:xfrm>
          <a:prstGeom prst="roundRect">
            <a:avLst>
              <a:gd name="adj" fmla="val 19495392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8766" y="4791075"/>
            <a:ext cx="210979" cy="21097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189821" y="5238750"/>
            <a:ext cx="2051804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Технологии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6189821" y="5559623"/>
            <a:ext cx="7737158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Соответствие сложившейся инфраструктуре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4"/>
          <p:cNvSpPr/>
          <p:nvPr/>
        </p:nvSpPr>
        <p:spPr>
          <a:xfrm>
            <a:off x="6033492" y="6034802"/>
            <a:ext cx="8049816" cy="1421368"/>
          </a:xfrm>
          <a:prstGeom prst="roundRect">
            <a:avLst>
              <a:gd name="adj" fmla="val 165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15"/>
          <p:cNvSpPr/>
          <p:nvPr/>
        </p:nvSpPr>
        <p:spPr>
          <a:xfrm>
            <a:off x="6189821" y="6191131"/>
            <a:ext cx="468987" cy="468987"/>
          </a:xfrm>
          <a:prstGeom prst="roundRect">
            <a:avLst>
              <a:gd name="adj" fmla="val 19495392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18766" y="6320076"/>
            <a:ext cx="210979" cy="210979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189821" y="6767751"/>
            <a:ext cx="2051804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Эффект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6189821" y="7088624"/>
            <a:ext cx="7737158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Значительное повышение операционной эффективности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EA3B2368-0EC0-4159-497A-3CA6BE954C48}"/>
              </a:ext>
            </a:extLst>
          </p:cNvPr>
          <p:cNvSpPr/>
          <p:nvPr/>
        </p:nvSpPr>
        <p:spPr>
          <a:xfrm>
            <a:off x="12221737" y="7563803"/>
            <a:ext cx="2319453" cy="5877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2B95E22B-02A0-4667-A67D-A324840C44AB}"/>
              </a:ext>
            </a:extLst>
          </p:cNvPr>
          <p:cNvSpPr/>
          <p:nvPr/>
        </p:nvSpPr>
        <p:spPr>
          <a:xfrm>
            <a:off x="13030386" y="7797115"/>
            <a:ext cx="20113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</a:t>
            </a:r>
            <a:fld id="{DC613CC5-E30D-4415-8AFF-C7A603C882D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10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6F7068D9-12E6-C66D-8C5C-0B150A7D99FB}"/>
              </a:ext>
            </a:extLst>
          </p:cNvPr>
          <p:cNvSpPr/>
          <p:nvPr/>
        </p:nvSpPr>
        <p:spPr>
          <a:xfrm>
            <a:off x="5774268" y="148032"/>
            <a:ext cx="8979654" cy="705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Повышение операционной эффективности за счёт автоматизации сервиса транспортных </a:t>
            </a:r>
          </a:p>
          <a:p>
            <a:pPr>
              <a:lnSpc>
                <a:spcPts val="2300"/>
              </a:lnSpc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заявок Студентов ИТ-222 Смирнов П.В., Ткаченко Д.В.</a:t>
            </a:r>
          </a:p>
          <a:p>
            <a:pPr marL="0" indent="0" algn="l">
              <a:lnSpc>
                <a:spcPts val="2300"/>
              </a:lnSpc>
              <a:buNone/>
            </a:pPr>
            <a:endParaRPr lang="ru-RU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Noto Serif Medium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EFB3C4E4-D6AC-82B3-108D-867ECA4C4A6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21431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558</Words>
  <Application>Microsoft Office PowerPoint</Application>
  <PresentationFormat>Произвольный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Times New Roman</vt:lpstr>
      <vt:lpstr>Calibri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Пётр Смирнов</dc:creator>
  <cp:lastModifiedBy>Diablo4 Goose</cp:lastModifiedBy>
  <cp:revision>12</cp:revision>
  <dcterms:created xsi:type="dcterms:W3CDTF">2026-03-25T10:23:58Z</dcterms:created>
  <dcterms:modified xsi:type="dcterms:W3CDTF">2026-03-27T07:21:37Z</dcterms:modified>
</cp:coreProperties>
</file>