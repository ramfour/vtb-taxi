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92" r:id="rId2"/>
    <p:sldId id="257" r:id="rId3"/>
    <p:sldId id="293" r:id="rId4"/>
    <p:sldId id="295" r:id="rId5"/>
    <p:sldId id="258" r:id="rId6"/>
    <p:sldId id="294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x="14630400" cy="8229600"/>
  <p:notesSz cx="8229600" cy="146304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Средний стиль 2 — акцент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DA37D80-6434-44D0-A028-1B22A696006F}" styleName="Светлый стиль 3 — акцент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1E171933-4619-4E11-9A3F-F7608DF75F80}" styleName="Средний стиль 1 — акцент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D27102A9-8310-4765-A935-A1911B00CA55}" styleName="Светлый стиль 1 — акцент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354" y="-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60087809-08A6-7077-8844-D069D3D309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gfdssssssss</a:t>
            </a:r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9410DA2-5A79-D830-8A4E-D732AF4AE4C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660900" y="0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0ED3CC-94BD-4A6E-905E-A6E122BF3DCC}" type="datetimeFigureOut">
              <a:rPr lang="ru-RU" smtClean="0"/>
              <a:t>08.04.2026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21BC9C6-EEF9-F6FB-684A-C0971BA42FF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3896975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F917A67-61B6-2ECF-6401-D5D4798E859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660900" y="13896975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002CE3-741E-4210-BA7B-22BD246930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6393016"/>
      </p:ext>
    </p:extLst>
  </p:cSld>
  <p:clrMap bg1="lt1" tx1="dk1" bg2="lt2" tx2="dk2" accent1="accent1" accent2="accent2" accent3="accent3" accent4="accent4" accent5="accent5" accent6="accent6" hlink="hlink" folHlink="folHlink"/>
  <p:hf sldNum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1316290"/>
      </p:ext>
    </p:extLst>
  </p:cSld>
  <p:clrMap bg1="lt1" tx1="dk1" bg2="lt2" tx2="dk2" accent1="accent1" accent2="accent2" accent3="accent3" accent4="accent4" accent5="accent5" accent6="accent6" hlink="hlink" folHlink="folHlink"/>
  <p:hf sldNum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94b6832cbc_3_75:notes"/>
          <p:cNvSpPr txBox="1">
            <a:spLocks noGrp="1"/>
          </p:cNvSpPr>
          <p:nvPr>
            <p:ph type="body" idx="1"/>
          </p:nvPr>
        </p:nvSpPr>
        <p:spPr>
          <a:xfrm>
            <a:off x="685782" y="4343380"/>
            <a:ext cx="5486385" cy="411479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1" name="Google Shape;201;g194b6832cbc_3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49066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2FB5CA-41B6-1359-0920-AC46FC4FC9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6E54E90-0C7D-F5C8-7E1F-BEC7585582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817EFA4-43B6-D6B2-CA07-444D8E9EA9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1EB7F43-3949-E404-4027-81B1E9E2DF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D4EA4D3-132E-5A78-C204-E864D51E1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68BBD28-4CFB-9A42-B471-1DCF494D2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18533-2DDC-435F-9563-A180F8CD65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98594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5"/>
          <p:cNvSpPr txBox="1">
            <a:spLocks noGrp="1"/>
          </p:cNvSpPr>
          <p:nvPr>
            <p:ph type="body" idx="1"/>
          </p:nvPr>
        </p:nvSpPr>
        <p:spPr>
          <a:xfrm>
            <a:off x="7936440" y="425520"/>
            <a:ext cx="6291360" cy="737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80" tIns="73120" rIns="146280" bIns="73120" anchor="t" anchorCtr="0">
            <a:normAutofit/>
          </a:bodyPr>
          <a:lstStyle/>
          <a:p>
            <a:pPr marL="0" indent="0">
              <a:spcBef>
                <a:spcPts val="0"/>
              </a:spcBef>
              <a:buSzPct val="100000"/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947"/>
              </a:spcBef>
              <a:buSzPct val="100000"/>
              <a:buNone/>
            </a:pPr>
            <a:r>
              <a:rPr lang="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  <a:r>
              <a:rPr lang="ru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СГУВТ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947"/>
              </a:spcBef>
              <a:buSzPct val="100000"/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spcBef>
                <a:spcPts val="533"/>
              </a:spcBef>
              <a:buSzPct val="100000"/>
              <a:buNone/>
            </a:pPr>
            <a:r>
              <a:rPr lang="ru" sz="288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Сибирский государственный университет водного транспорта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spcBef>
                <a:spcPts val="533"/>
              </a:spcBef>
              <a:buSzPct val="100000"/>
              <a:buNone/>
            </a:pPr>
            <a:r>
              <a:rPr lang="ru" sz="288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кафедра Информационных систем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533"/>
              </a:spcBef>
              <a:buSzPct val="100000"/>
              <a:buNone/>
            </a:pPr>
            <a:endParaRPr sz="288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indent="0">
              <a:spcBef>
                <a:spcPts val="533"/>
              </a:spcBef>
              <a:buSzPct val="100000"/>
              <a:buNone/>
            </a:pPr>
            <a:endParaRPr sz="288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indent="0">
              <a:spcBef>
                <a:spcPts val="710"/>
              </a:spcBef>
              <a:buSzPct val="100000"/>
              <a:buNone/>
            </a:pPr>
            <a:r>
              <a:rPr lang="ru-RU" sz="3480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Ткаченко Данил Витальевич </a:t>
            </a:r>
            <a:endParaRPr b="1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indent="0">
              <a:spcBef>
                <a:spcPts val="592"/>
              </a:spcBef>
              <a:buSzPct val="100000"/>
              <a:buNone/>
            </a:pPr>
            <a:r>
              <a:rPr lang="ru-RU" sz="3200" i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4</a:t>
            </a:r>
            <a:r>
              <a:rPr lang="ru" sz="3200" i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курс, ИТ-222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710"/>
              </a:spcBef>
              <a:buSzPct val="100000"/>
              <a:buNone/>
            </a:pPr>
            <a:endParaRPr b="1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indent="0">
              <a:spcBef>
                <a:spcPts val="710"/>
              </a:spcBef>
              <a:buSzPct val="100000"/>
              <a:buNone/>
            </a:pPr>
            <a:r>
              <a:rPr lang="ru-RU" sz="2400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Руководитель: </a:t>
            </a:r>
            <a:r>
              <a:rPr lang="ru-RU" sz="2400" b="1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Рыковский</a:t>
            </a:r>
            <a:r>
              <a:rPr lang="ru-RU" sz="2400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Н.А.</a:t>
            </a:r>
          </a:p>
          <a:p>
            <a:pPr marL="0" indent="0">
              <a:spcBef>
                <a:spcPts val="710"/>
              </a:spcBef>
              <a:buSzPct val="100000"/>
              <a:buNone/>
            </a:pPr>
            <a:endParaRPr b="1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204" name="Google Shape;204;p25"/>
          <p:cNvSpPr txBox="1">
            <a:spLocks noGrp="1"/>
          </p:cNvSpPr>
          <p:nvPr>
            <p:ph type="body" idx="2"/>
          </p:nvPr>
        </p:nvSpPr>
        <p:spPr>
          <a:xfrm>
            <a:off x="0" y="0"/>
            <a:ext cx="7660800" cy="82296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146280" tIns="73120" rIns="146280" bIns="73120" anchor="t" anchorCtr="0">
            <a:normAutofit/>
          </a:bodyPr>
          <a:lstStyle/>
          <a:p>
            <a:pPr>
              <a:spcBef>
                <a:spcPts val="0"/>
              </a:spcBef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dirty="0">
              <a:solidFill>
                <a:schemeClr val="l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960"/>
              </a:spcBef>
              <a:buClr>
                <a:schemeClr val="lt1"/>
              </a:buClr>
              <a:buSzPts val="3200"/>
            </a:pPr>
            <a:r>
              <a:rPr lang="ru-RU" sz="4320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Выпускная квалификационная работа</a:t>
            </a:r>
            <a:r>
              <a:rPr lang="ru-RU" sz="2160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 </a:t>
            </a:r>
            <a:endParaRPr lang="en-US" sz="2160" b="1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>
              <a:spcBef>
                <a:spcPts val="960"/>
              </a:spcBef>
              <a:buClr>
                <a:schemeClr val="lt1"/>
              </a:buClr>
              <a:buSzPts val="3200"/>
            </a:pPr>
            <a:r>
              <a:rPr lang="ru-RU" sz="2160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направление подготовки 09.03.02 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568945">
              <a:spcBef>
                <a:spcPts val="960"/>
              </a:spcBef>
              <a:buClr>
                <a:schemeClr val="lt1"/>
              </a:buClr>
              <a:buSzPts val="1600"/>
            </a:pPr>
            <a:r>
              <a:rPr lang="ru" sz="2160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"Информационные  системы и технологии“</a:t>
            </a:r>
            <a:endParaRPr lang="en-US" sz="2160" b="1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indent="568945">
              <a:spcBef>
                <a:spcPts val="960"/>
              </a:spcBef>
              <a:buClr>
                <a:schemeClr val="lt1"/>
              </a:buClr>
              <a:buSzPts val="1600"/>
            </a:pPr>
            <a:endParaRPr sz="512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Clr>
                <a:schemeClr val="lt1"/>
              </a:buClr>
              <a:buSzPts val="2400"/>
            </a:pPr>
            <a:r>
              <a:rPr lang="ru-RU" sz="3552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Разработка прототипа мультисервисного приложения для автоматизации внутренних бизнес-процессов для руководителей ВТБ</a:t>
            </a:r>
          </a:p>
        </p:txBody>
      </p:sp>
      <p:pic>
        <p:nvPicPr>
          <p:cNvPr id="205" name="Google Shape;205;p25" descr="1004-sguvt-v-g-yakutsk-4364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48796" y="678746"/>
            <a:ext cx="1275815" cy="12758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47EF6EF9-D9C6-4C0F-4A9A-D4601B14D7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2233" y="7722154"/>
            <a:ext cx="1928165" cy="478723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94360" y="848201"/>
            <a:ext cx="11737419" cy="5306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ru-RU" sz="3300" dirty="0">
                <a:solidFill>
                  <a:srgbClr val="3A3A3A"/>
                </a:solidFill>
                <a:latin typeface="Times New Roman" panose="02020603050405020304" pitchFamily="18" charset="0"/>
                <a:ea typeface="Noto Serif Medium" pitchFamily="34" charset="-122"/>
                <a:cs typeface="Times New Roman" panose="02020603050405020304" pitchFamily="18" charset="0"/>
              </a:rPr>
              <a:t>Актуальность проблемы автоматизации процессов</a:t>
            </a:r>
            <a:endParaRPr lang="en-US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94360" y="1718549"/>
            <a:ext cx="5951406" cy="313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ru-RU" sz="1300" dirty="0">
                <a:solidFill>
                  <a:srgbClr val="4C4C4C"/>
                </a:solidFill>
                <a:latin typeface="Times New Roman" panose="02020603050405020304" pitchFamily="18" charset="0"/>
                <a:ea typeface="Noto Serif" pitchFamily="34" charset="-122"/>
                <a:cs typeface="Times New Roman" panose="02020603050405020304" pitchFamily="18" charset="0"/>
              </a:rPr>
              <a:t>Текущая ситуация: ручной процесс с заказом корпоративного такси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94360" y="2724983"/>
            <a:ext cx="169783" cy="2122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4C4C4C"/>
                </a:solidFill>
                <a:latin typeface="Times New Roman" panose="02020603050405020304" pitchFamily="18" charset="0"/>
                <a:ea typeface="Noto Serif Light" pitchFamily="34" charset="-122"/>
                <a:cs typeface="Times New Roman" panose="02020603050405020304" pitchFamily="18" charset="0"/>
              </a:rPr>
              <a:t>01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94360" y="2990731"/>
            <a:ext cx="4367332" cy="22860"/>
          </a:xfrm>
          <a:prstGeom prst="rect">
            <a:avLst/>
          </a:prstGeom>
          <a:solidFill>
            <a:srgbClr val="E6DED2"/>
          </a:solidFill>
          <a:ln/>
        </p:spPr>
        <p:txBody>
          <a:bodyPr/>
          <a:lstStyle/>
          <a:p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94360" y="3115390"/>
            <a:ext cx="4367332" cy="530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4C4C4C"/>
                </a:solidFill>
                <a:latin typeface="Times New Roman" panose="02020603050405020304" pitchFamily="18" charset="0"/>
                <a:ea typeface="Noto Serif Medium" pitchFamily="34" charset="-122"/>
                <a:cs typeface="Times New Roman" panose="02020603050405020304" pitchFamily="18" charset="0"/>
              </a:rPr>
              <a:t>❌ </a:t>
            </a:r>
            <a:r>
              <a:rPr lang="ru-RU" sz="1650" dirty="0">
                <a:solidFill>
                  <a:srgbClr val="4C4C4C"/>
                </a:solidFill>
                <a:latin typeface="Times New Roman" panose="02020603050405020304" pitchFamily="18" charset="0"/>
                <a:ea typeface="Noto Serif Medium" pitchFamily="34" charset="-122"/>
                <a:cs typeface="Times New Roman" panose="02020603050405020304" pitchFamily="18" charset="0"/>
              </a:rPr>
              <a:t>Ручной сбор и систематизация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94360" y="3592988"/>
            <a:ext cx="4133757" cy="185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ru-RU" sz="1300" dirty="0">
                <a:solidFill>
                  <a:srgbClr val="4C4C4C"/>
                </a:solidFill>
                <a:latin typeface="Times New Roman" panose="02020603050405020304" pitchFamily="18" charset="0"/>
                <a:ea typeface="Noto Serif" pitchFamily="34" charset="-122"/>
                <a:cs typeface="Times New Roman" panose="02020603050405020304" pitchFamily="18" charset="0"/>
              </a:rPr>
              <a:t>В текущей системе отсутствует единый канал для подачи заявок. Сотрудники вынуждены отправлять данные через множество неподконтрольных каналов: корпоративные и личные мессенджеры, электронную почту, телефонные звонки и даже устные просьбы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131475" y="2724983"/>
            <a:ext cx="169783" cy="2122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4C4C4C"/>
                </a:solidFill>
                <a:latin typeface="Times New Roman" panose="02020603050405020304" pitchFamily="18" charset="0"/>
                <a:ea typeface="Noto Serif Light" pitchFamily="34" charset="-122"/>
                <a:cs typeface="Times New Roman" panose="02020603050405020304" pitchFamily="18" charset="0"/>
              </a:rPr>
              <a:t>02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131475" y="2990731"/>
            <a:ext cx="4367332" cy="22860"/>
          </a:xfrm>
          <a:prstGeom prst="rect">
            <a:avLst/>
          </a:prstGeom>
          <a:solidFill>
            <a:srgbClr val="E6DED2"/>
          </a:solidFill>
          <a:ln/>
        </p:spPr>
        <p:txBody>
          <a:bodyPr/>
          <a:lstStyle/>
          <a:p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131475" y="3115390"/>
            <a:ext cx="4367332" cy="530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4C4C4C"/>
                </a:solidFill>
                <a:latin typeface="Times New Roman" panose="02020603050405020304" pitchFamily="18" charset="0"/>
                <a:ea typeface="Noto Serif Medium" pitchFamily="34" charset="-122"/>
                <a:cs typeface="Times New Roman" panose="02020603050405020304" pitchFamily="18" charset="0"/>
              </a:rPr>
              <a:t>❌ </a:t>
            </a:r>
            <a:r>
              <a:rPr lang="ru-RU" sz="1650" dirty="0">
                <a:solidFill>
                  <a:srgbClr val="4C4C4C"/>
                </a:solidFill>
                <a:latin typeface="Times New Roman" panose="02020603050405020304" pitchFamily="18" charset="0"/>
                <a:ea typeface="Noto Serif Medium" pitchFamily="34" charset="-122"/>
                <a:cs typeface="Times New Roman" panose="02020603050405020304" pitchFamily="18" charset="0"/>
              </a:rPr>
              <a:t>Двойная работа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046523" y="3592988"/>
            <a:ext cx="4367332" cy="135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ru-RU" sz="1300" dirty="0">
                <a:solidFill>
                  <a:srgbClr val="4C4C4C"/>
                </a:solidFill>
                <a:latin typeface="Times New Roman" panose="02020603050405020304" pitchFamily="18" charset="0"/>
                <a:ea typeface="Noto Serif" pitchFamily="34" charset="-122"/>
                <a:cs typeface="Times New Roman" panose="02020603050405020304" pitchFamily="18" charset="0"/>
              </a:rPr>
              <a:t>Ответственный руководитель, получив заявку, не может передать её в Яндекс Такси напрямую. Ему приходится вручную переносить все данные (ФИО, адрес, телефон) из чата или письма в корпоративный аккаунт Яндекс Go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9668589" y="2724983"/>
            <a:ext cx="169783" cy="2122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4C4C4C"/>
                </a:solidFill>
                <a:latin typeface="Times New Roman" panose="02020603050405020304" pitchFamily="18" charset="0"/>
                <a:ea typeface="Noto Serif Light" pitchFamily="34" charset="-122"/>
                <a:cs typeface="Times New Roman" panose="02020603050405020304" pitchFamily="18" charset="0"/>
              </a:rPr>
              <a:t>03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9668589" y="2990731"/>
            <a:ext cx="4367332" cy="22860"/>
          </a:xfrm>
          <a:prstGeom prst="rect">
            <a:avLst/>
          </a:prstGeom>
          <a:solidFill>
            <a:srgbClr val="E6DED2"/>
          </a:solidFill>
          <a:ln/>
        </p:spPr>
        <p:txBody>
          <a:bodyPr/>
          <a:lstStyle/>
          <a:p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9668589" y="3121343"/>
            <a:ext cx="4367332" cy="530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4C4C4C"/>
                </a:solidFill>
                <a:latin typeface="Times New Roman" panose="02020603050405020304" pitchFamily="18" charset="0"/>
                <a:ea typeface="Noto Serif Medium" pitchFamily="34" charset="-122"/>
                <a:cs typeface="Times New Roman" panose="02020603050405020304" pitchFamily="18" charset="0"/>
              </a:rPr>
              <a:t>❌ </a:t>
            </a:r>
            <a:r>
              <a:rPr lang="ru-RU" sz="1650" dirty="0">
                <a:solidFill>
                  <a:srgbClr val="4C4C4C"/>
                </a:solidFill>
                <a:latin typeface="Times New Roman" panose="02020603050405020304" pitchFamily="18" charset="0"/>
                <a:ea typeface="Noto Serif Medium" pitchFamily="34" charset="-122"/>
                <a:cs typeface="Times New Roman" panose="02020603050405020304" pitchFamily="18" charset="0"/>
              </a:rPr>
              <a:t>Сверка и корректировка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9668589" y="3592988"/>
            <a:ext cx="4367332" cy="135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ru-RU" sz="1300" dirty="0">
                <a:solidFill>
                  <a:srgbClr val="4C4C4C"/>
                </a:solidFill>
                <a:latin typeface="Times New Roman" panose="02020603050405020304" pitchFamily="18" charset="0"/>
                <a:ea typeface="Noto Serif" pitchFamily="34" charset="-122"/>
                <a:cs typeface="Times New Roman" panose="02020603050405020304" pitchFamily="18" charset="0"/>
              </a:rPr>
              <a:t>В ручном режиме данные часто приходят с ошибками: опечатки в адресах, неполные номера телефонов, некорректные ФИО. Ответственному лицу приходится тратить дополнительное время на уточнения, переписку и исправление этих ошибок.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94360" y="5409843"/>
            <a:ext cx="169783" cy="2122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4C4C4C"/>
                </a:solidFill>
                <a:latin typeface="Times New Roman" panose="02020603050405020304" pitchFamily="18" charset="0"/>
                <a:ea typeface="Noto Serif Light" pitchFamily="34" charset="-122"/>
                <a:cs typeface="Times New Roman" panose="02020603050405020304" pitchFamily="18" charset="0"/>
              </a:rPr>
              <a:t>04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94360" y="5675590"/>
            <a:ext cx="6635829" cy="22860"/>
          </a:xfrm>
          <a:prstGeom prst="rect">
            <a:avLst/>
          </a:prstGeom>
          <a:solidFill>
            <a:srgbClr val="E6DED2"/>
          </a:solidFill>
          <a:ln/>
        </p:spPr>
        <p:txBody>
          <a:bodyPr/>
          <a:lstStyle/>
          <a:p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94360" y="5806202"/>
            <a:ext cx="3758446" cy="265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50"/>
              </a:lnSpc>
            </a:pPr>
            <a:r>
              <a:rPr lang="en-US" sz="1650" dirty="0">
                <a:solidFill>
                  <a:srgbClr val="4C4C4C"/>
                </a:solidFill>
                <a:latin typeface="Times New Roman" panose="02020603050405020304" pitchFamily="18" charset="0"/>
                <a:ea typeface="Noto Serif Medium" pitchFamily="34" charset="-122"/>
                <a:cs typeface="Times New Roman" panose="02020603050405020304" pitchFamily="18" charset="0"/>
              </a:rPr>
              <a:t>❌</a:t>
            </a:r>
            <a:r>
              <a:rPr lang="ru-RU" sz="1650" dirty="0">
                <a:solidFill>
                  <a:srgbClr val="4C4C4C"/>
                </a:solidFill>
                <a:latin typeface="Times New Roman" panose="02020603050405020304" pitchFamily="18" charset="0"/>
                <a:ea typeface="Noto Serif Medium" pitchFamily="34" charset="-122"/>
                <a:cs typeface="Times New Roman" panose="02020603050405020304" pitchFamily="18" charset="0"/>
              </a:rPr>
              <a:t> Операционные потери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94360" y="6173272"/>
            <a:ext cx="6635829" cy="8154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ru-RU" sz="1300" dirty="0">
                <a:solidFill>
                  <a:srgbClr val="4C4C4C"/>
                </a:solidFill>
                <a:latin typeface="Times New Roman" panose="02020603050405020304" pitchFamily="18" charset="0"/>
                <a:ea typeface="Noto Serif" pitchFamily="34" charset="-122"/>
                <a:cs typeface="Times New Roman" panose="02020603050405020304" pitchFamily="18" charset="0"/>
              </a:rPr>
              <a:t>Колоссальные временные затраты, которые не приносят добавленной стоимости. Время, которое руководитель мог бы потратить на аналитику и управление командой, уходит на механическую работу с таблицами.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399973" y="5409843"/>
            <a:ext cx="169783" cy="2122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4C4C4C"/>
                </a:solidFill>
                <a:latin typeface="Times New Roman" panose="02020603050405020304" pitchFamily="18" charset="0"/>
                <a:ea typeface="Noto Serif Light" pitchFamily="34" charset="-122"/>
                <a:cs typeface="Times New Roman" panose="02020603050405020304" pitchFamily="18" charset="0"/>
              </a:rPr>
              <a:t>05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7399973" y="5675590"/>
            <a:ext cx="6635948" cy="22860"/>
          </a:xfrm>
          <a:prstGeom prst="rect">
            <a:avLst/>
          </a:prstGeom>
          <a:solidFill>
            <a:srgbClr val="E6DED2"/>
          </a:solidFill>
          <a:ln/>
        </p:spPr>
        <p:txBody>
          <a:bodyPr/>
          <a:lstStyle/>
          <a:p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7399973" y="5806202"/>
            <a:ext cx="6635948" cy="1504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050"/>
              </a:lnSpc>
            </a:pPr>
            <a:r>
              <a:rPr lang="en-US" sz="1650" dirty="0">
                <a:solidFill>
                  <a:srgbClr val="4C4C4C"/>
                </a:solidFill>
                <a:latin typeface="Times New Roman" panose="02020603050405020304" pitchFamily="18" charset="0"/>
                <a:ea typeface="Noto Serif Medium" pitchFamily="34" charset="-122"/>
                <a:cs typeface="Times New Roman" panose="02020603050405020304" pitchFamily="18" charset="0"/>
              </a:rPr>
              <a:t>❌ </a:t>
            </a:r>
            <a:r>
              <a:rPr lang="ru-RU" sz="1650" dirty="0">
                <a:solidFill>
                  <a:srgbClr val="4C4C4C"/>
                </a:solidFill>
                <a:latin typeface="Times New Roman" panose="02020603050405020304" pitchFamily="18" charset="0"/>
                <a:ea typeface="Noto Serif Medium" pitchFamily="34" charset="-122"/>
                <a:cs typeface="Times New Roman" panose="02020603050405020304" pitchFamily="18" charset="0"/>
              </a:rPr>
              <a:t>Рост расходов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399973" y="6173271"/>
            <a:ext cx="6635948" cy="8154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ru-RU" sz="1300" dirty="0">
                <a:solidFill>
                  <a:srgbClr val="4C4C4C"/>
                </a:solidFill>
                <a:latin typeface="Times New Roman" panose="02020603050405020304" pitchFamily="18" charset="0"/>
                <a:ea typeface="Noto Serif" pitchFamily="34" charset="-122"/>
                <a:cs typeface="Times New Roman" panose="02020603050405020304" pitchFamily="18" charset="0"/>
              </a:rPr>
              <a:t>Человеческий фактор проявляется не только в ошибках данных, но и в отсутствии контроля. Невозможно оперативно отслеживать лимиты поездок, их целесообразность, выбирать оптимальные тарифы. Система не препятствует случайным или нерациональным заказам.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1">
            <a:extLst>
              <a:ext uri="{FF2B5EF4-FFF2-40B4-BE49-F238E27FC236}">
                <a16:creationId xmlns:a16="http://schemas.microsoft.com/office/drawing/2014/main" id="{200C21C6-9958-FEC9-F5B6-51B4064D4E51}"/>
              </a:ext>
            </a:extLst>
          </p:cNvPr>
          <p:cNvSpPr/>
          <p:nvPr/>
        </p:nvSpPr>
        <p:spPr>
          <a:xfrm>
            <a:off x="594360" y="2153986"/>
            <a:ext cx="5951406" cy="313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ru-RU" sz="1300" dirty="0">
                <a:solidFill>
                  <a:srgbClr val="4C4C4C"/>
                </a:solidFill>
                <a:latin typeface="Times New Roman" panose="02020603050405020304" pitchFamily="18" charset="0"/>
                <a:ea typeface="Noto Serif" pitchFamily="34" charset="-122"/>
                <a:cs typeface="Times New Roman" panose="02020603050405020304" pitchFamily="18" charset="0"/>
              </a:rPr>
              <a:t>Проблемы руководителей: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1">
            <a:extLst>
              <a:ext uri="{FF2B5EF4-FFF2-40B4-BE49-F238E27FC236}">
                <a16:creationId xmlns:a16="http://schemas.microsoft.com/office/drawing/2014/main" id="{097C37C4-9030-AC18-1FD2-4A5E5A2B6923}"/>
              </a:ext>
            </a:extLst>
          </p:cNvPr>
          <p:cNvSpPr/>
          <p:nvPr/>
        </p:nvSpPr>
        <p:spPr>
          <a:xfrm>
            <a:off x="13030386" y="7797115"/>
            <a:ext cx="2011308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Слайд </a:t>
            </a:r>
            <a:fld id="{DC613CC5-E30D-4415-8AFF-C7A603C882D4}" type="slidenum">
              <a:rPr lang="ru-RU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fld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из 14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" name="Рисунок 29" descr="Изображение выглядит как снимок экрана, Графика, Шрифт, графический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23E75AE-621D-D1E8-2929-03ADD5F0A5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4923" y="899649"/>
            <a:ext cx="3531393" cy="1268359"/>
          </a:xfrm>
          <a:prstGeom prst="rect">
            <a:avLst/>
          </a:prstGeom>
        </p:spPr>
      </p:pic>
      <p:sp>
        <p:nvSpPr>
          <p:cNvPr id="25" name="Text 0">
            <a:extLst>
              <a:ext uri="{FF2B5EF4-FFF2-40B4-BE49-F238E27FC236}">
                <a16:creationId xmlns:a16="http://schemas.microsoft.com/office/drawing/2014/main" id="{E1EBEDB1-32B7-1DD3-214E-93566E4EED8D}"/>
              </a:ext>
            </a:extLst>
          </p:cNvPr>
          <p:cNvSpPr/>
          <p:nvPr/>
        </p:nvSpPr>
        <p:spPr>
          <a:xfrm>
            <a:off x="425026" y="159012"/>
            <a:ext cx="11215431" cy="705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ru-RU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Noto Serif Medium" pitchFamily="34" charset="-122"/>
                <a:cs typeface="Times New Roman" panose="02020603050405020304" pitchFamily="18" charset="0"/>
              </a:rPr>
              <a:t>Разработка прототипа мультисервисного приложения для автоматизации внутренних бизнес-процессов для руководителей ВТБ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Noto Serif Medium" pitchFamily="34" charset="-122"/>
                <a:cs typeface="Times New Roman" panose="02020603050405020304" pitchFamily="18" charset="0"/>
              </a:rPr>
              <a:t> </a:t>
            </a:r>
            <a:endParaRPr lang="ru-RU" dirty="0">
              <a:solidFill>
                <a:schemeClr val="bg2">
                  <a:lumMod val="75000"/>
                </a:schemeClr>
              </a:solidFill>
              <a:latin typeface="Times New Roman" panose="02020603050405020304" pitchFamily="18" charset="0"/>
              <a:ea typeface="Noto Serif Medium" pitchFamily="34" charset="-122"/>
              <a:cs typeface="Times New Roman" panose="02020603050405020304" pitchFamily="18" charset="0"/>
            </a:endParaRPr>
          </a:p>
          <a:p>
            <a:pPr marL="0" indent="0" algn="l">
              <a:lnSpc>
                <a:spcPts val="2300"/>
              </a:lnSpc>
              <a:buNone/>
            </a:pPr>
            <a:r>
              <a:rPr lang="ru-RU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Noto Serif Medium" pitchFamily="34" charset="-122"/>
                <a:cs typeface="Times New Roman" panose="02020603050405020304" pitchFamily="18" charset="0"/>
              </a:rPr>
              <a:t>Студента ИТ-222 Ткаченко Д.В.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42B544FD-6A13-BE25-9A78-2F67E2D4B3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2235" y="7722154"/>
            <a:ext cx="1928165" cy="478723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94360" y="848201"/>
            <a:ext cx="11737419" cy="5306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dirty="0">
                <a:solidFill>
                  <a:srgbClr val="3A3A3A"/>
                </a:solidFill>
                <a:latin typeface="Times New Roman" panose="02020603050405020304" pitchFamily="18" charset="0"/>
                <a:ea typeface="Noto Serif Medium" pitchFamily="34" charset="-122"/>
                <a:cs typeface="Times New Roman" panose="02020603050405020304" pitchFamily="18" charset="0"/>
              </a:rPr>
              <a:t>Цель и задачи выпускной квалификационной работы</a:t>
            </a:r>
            <a:endParaRPr lang="en-US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94360" y="1718548"/>
            <a:ext cx="13441680" cy="8154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4C4C4C"/>
                </a:solidFill>
                <a:latin typeface="Times New Roman" panose="02020603050405020304" pitchFamily="18" charset="0"/>
                <a:ea typeface="Noto Serif" pitchFamily="34" charset="-122"/>
                <a:cs typeface="Times New Roman" panose="02020603050405020304" pitchFamily="18" charset="0"/>
              </a:rPr>
              <a:t>Основной целью данной работы является создание прототипа мультисервисного приложения для автоматизации и оптимизации широкого спектра внутренних бизнес-процессов банка ВТБ, что позволит повысить операционную эффективность и сократить издержки, включая модуль управления корпоративным такси как один из ключевых компонентов.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94360" y="2724983"/>
            <a:ext cx="169783" cy="2122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4C4C4C"/>
                </a:solidFill>
                <a:latin typeface="Times New Roman" panose="02020603050405020304" pitchFamily="18" charset="0"/>
                <a:ea typeface="Noto Serif Light" pitchFamily="34" charset="-122"/>
                <a:cs typeface="Times New Roman" panose="02020603050405020304" pitchFamily="18" charset="0"/>
              </a:rPr>
              <a:t>01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94360" y="2990731"/>
            <a:ext cx="4367332" cy="22860"/>
          </a:xfrm>
          <a:prstGeom prst="rect">
            <a:avLst/>
          </a:prstGeom>
          <a:solidFill>
            <a:srgbClr val="E6DED2"/>
          </a:solidFill>
          <a:ln/>
        </p:spPr>
        <p:txBody>
          <a:bodyPr/>
          <a:lstStyle/>
          <a:p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94360" y="3121343"/>
            <a:ext cx="4367332" cy="530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4C4C4C"/>
                </a:solidFill>
                <a:latin typeface="Times New Roman" panose="02020603050405020304" pitchFamily="18" charset="0"/>
                <a:ea typeface="Noto Serif Medium" pitchFamily="34" charset="-122"/>
                <a:cs typeface="Times New Roman" panose="02020603050405020304" pitchFamily="18" charset="0"/>
              </a:rPr>
              <a:t>Анализ текущих внутренних бизнес-процессов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94360" y="3753683"/>
            <a:ext cx="4367332" cy="135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4C4C4C"/>
                </a:solidFill>
                <a:latin typeface="Times New Roman" panose="02020603050405020304" pitchFamily="18" charset="0"/>
                <a:ea typeface="Noto Serif" pitchFamily="34" charset="-122"/>
                <a:cs typeface="Times New Roman" panose="02020603050405020304" pitchFamily="18" charset="0"/>
              </a:rPr>
              <a:t>Изучение существующих методик различных внутренних процессов ВТБ, включая заказ корпоративного такси, выявление потребностей пользователей и формирование требований к мультисервисному приложению.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131475" y="2724983"/>
            <a:ext cx="169783" cy="2122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4C4C4C"/>
                </a:solidFill>
                <a:latin typeface="Times New Roman" panose="02020603050405020304" pitchFamily="18" charset="0"/>
                <a:ea typeface="Noto Serif Light" pitchFamily="34" charset="-122"/>
                <a:cs typeface="Times New Roman" panose="02020603050405020304" pitchFamily="18" charset="0"/>
              </a:rPr>
              <a:t>02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131475" y="2990731"/>
            <a:ext cx="4367332" cy="22860"/>
          </a:xfrm>
          <a:prstGeom prst="rect">
            <a:avLst/>
          </a:prstGeom>
          <a:solidFill>
            <a:srgbClr val="E6DED2"/>
          </a:solidFill>
          <a:ln/>
        </p:spPr>
        <p:txBody>
          <a:bodyPr/>
          <a:lstStyle/>
          <a:p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131475" y="3121343"/>
            <a:ext cx="4367332" cy="530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4C4C4C"/>
                </a:solidFill>
                <a:latin typeface="Times New Roman" panose="02020603050405020304" pitchFamily="18" charset="0"/>
                <a:ea typeface="Noto Serif Medium" pitchFamily="34" charset="-122"/>
                <a:cs typeface="Times New Roman" panose="02020603050405020304" pitchFamily="18" charset="0"/>
              </a:rPr>
              <a:t>Проектирование архитектуры мультисервисного приложения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131475" y="3753683"/>
            <a:ext cx="4367332" cy="135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4C4C4C"/>
                </a:solidFill>
                <a:latin typeface="Times New Roman" panose="02020603050405020304" pitchFamily="18" charset="0"/>
                <a:ea typeface="Noto Serif" pitchFamily="34" charset="-122"/>
                <a:cs typeface="Times New Roman" panose="02020603050405020304" pitchFamily="18" charset="0"/>
              </a:rPr>
              <a:t>Разработка гибкой и масштабируемой архитектуры для новой платформы, обеспечивающей интеграцию различных модулей и взаимодействие с существующими системами ВТБ.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9668589" y="2724983"/>
            <a:ext cx="169783" cy="2122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4C4C4C"/>
                </a:solidFill>
                <a:latin typeface="Times New Roman" panose="02020603050405020304" pitchFamily="18" charset="0"/>
                <a:ea typeface="Noto Serif Light" pitchFamily="34" charset="-122"/>
                <a:cs typeface="Times New Roman" panose="02020603050405020304" pitchFamily="18" charset="0"/>
              </a:rPr>
              <a:t>03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9668589" y="2990731"/>
            <a:ext cx="4367332" cy="22860"/>
          </a:xfrm>
          <a:prstGeom prst="rect">
            <a:avLst/>
          </a:prstGeom>
          <a:solidFill>
            <a:srgbClr val="E6DED2"/>
          </a:solidFill>
          <a:ln/>
        </p:spPr>
        <p:txBody>
          <a:bodyPr/>
          <a:lstStyle/>
          <a:p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9668589" y="3121343"/>
            <a:ext cx="4367332" cy="530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4C4C4C"/>
                </a:solidFill>
                <a:latin typeface="Times New Roman" panose="02020603050405020304" pitchFamily="18" charset="0"/>
                <a:ea typeface="Noto Serif Medium" pitchFamily="34" charset="-122"/>
                <a:cs typeface="Times New Roman" panose="02020603050405020304" pitchFamily="18" charset="0"/>
              </a:rPr>
              <a:t>Разработка прототипа ключевых модулей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9668589" y="3753683"/>
            <a:ext cx="4367332" cy="135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4C4C4C"/>
                </a:solidFill>
                <a:latin typeface="Times New Roman" panose="02020603050405020304" pitchFamily="18" charset="0"/>
                <a:ea typeface="Noto Serif" pitchFamily="34" charset="-122"/>
                <a:cs typeface="Times New Roman" panose="02020603050405020304" pitchFamily="18" charset="0"/>
              </a:rPr>
              <a:t>Реализация основных функциональных блоков мультисервисного приложения, включая демонстрационный модуль управления корпоративным такси и другие востребованные внутренние сервисы.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94360" y="5409843"/>
            <a:ext cx="169783" cy="2122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4C4C4C"/>
                </a:solidFill>
                <a:latin typeface="Times New Roman" panose="02020603050405020304" pitchFamily="18" charset="0"/>
                <a:ea typeface="Noto Serif Light" pitchFamily="34" charset="-122"/>
                <a:cs typeface="Times New Roman" panose="02020603050405020304" pitchFamily="18" charset="0"/>
              </a:rPr>
              <a:t>04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94360" y="5675590"/>
            <a:ext cx="6635829" cy="22860"/>
          </a:xfrm>
          <a:prstGeom prst="rect">
            <a:avLst/>
          </a:prstGeom>
          <a:solidFill>
            <a:srgbClr val="E6DED2"/>
          </a:solidFill>
          <a:ln/>
        </p:spPr>
        <p:txBody>
          <a:bodyPr/>
          <a:lstStyle/>
          <a:p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94360" y="5806202"/>
            <a:ext cx="3758446" cy="265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4C4C4C"/>
                </a:solidFill>
                <a:latin typeface="Times New Roman" panose="02020603050405020304" pitchFamily="18" charset="0"/>
                <a:ea typeface="Noto Serif Medium" pitchFamily="34" charset="-122"/>
                <a:cs typeface="Times New Roman" panose="02020603050405020304" pitchFamily="18" charset="0"/>
              </a:rPr>
              <a:t>Тестирование и оценка прототипа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94360" y="6173272"/>
            <a:ext cx="6635829" cy="8154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4C4C4C"/>
                </a:solidFill>
                <a:latin typeface="Times New Roman" panose="02020603050405020304" pitchFamily="18" charset="0"/>
                <a:ea typeface="Noto Serif" pitchFamily="34" charset="-122"/>
                <a:cs typeface="Times New Roman" panose="02020603050405020304" pitchFamily="18" charset="0"/>
              </a:rPr>
              <a:t>Проведение функционального и нагрузочного тестирования прототипа для обеспечения его стабильности, безопасности, удобства использования и соответствия заявленным требованиям.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399973" y="5409843"/>
            <a:ext cx="169783" cy="2122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4C4C4C"/>
                </a:solidFill>
                <a:latin typeface="Times New Roman" panose="02020603050405020304" pitchFamily="18" charset="0"/>
                <a:ea typeface="Noto Serif Light" pitchFamily="34" charset="-122"/>
                <a:cs typeface="Times New Roman" panose="02020603050405020304" pitchFamily="18" charset="0"/>
              </a:rPr>
              <a:t>05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7399973" y="5675590"/>
            <a:ext cx="6635948" cy="22860"/>
          </a:xfrm>
          <a:prstGeom prst="rect">
            <a:avLst/>
          </a:prstGeom>
          <a:solidFill>
            <a:srgbClr val="E6DED2"/>
          </a:solidFill>
          <a:ln/>
        </p:spPr>
        <p:txBody>
          <a:bodyPr/>
          <a:lstStyle/>
          <a:p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7399973" y="5806202"/>
            <a:ext cx="6635948" cy="530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4C4C4C"/>
                </a:solidFill>
                <a:latin typeface="Times New Roman" panose="02020603050405020304" pitchFamily="18" charset="0"/>
                <a:ea typeface="Noto Serif Medium" pitchFamily="34" charset="-122"/>
                <a:cs typeface="Times New Roman" panose="02020603050405020304" pitchFamily="18" charset="0"/>
              </a:rPr>
              <a:t>Подготовка рекомендаций по дальнейшему развитию и внедрению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399973" y="6438543"/>
            <a:ext cx="6635948" cy="8154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4C4C4C"/>
                </a:solidFill>
                <a:latin typeface="Times New Roman" panose="02020603050405020304" pitchFamily="18" charset="0"/>
                <a:ea typeface="Noto Serif" pitchFamily="34" charset="-122"/>
                <a:cs typeface="Times New Roman" panose="02020603050405020304" pitchFamily="18" charset="0"/>
              </a:rPr>
              <a:t>Формирование документации, содержащей описание прототипа, технические спецификации, а также стратегические рекомендации для поэтапного внедрения и расширения мультисервисного приложения в ВТБ.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1">
            <a:extLst>
              <a:ext uri="{FF2B5EF4-FFF2-40B4-BE49-F238E27FC236}">
                <a16:creationId xmlns:a16="http://schemas.microsoft.com/office/drawing/2014/main" id="{F59989AA-3C99-EE47-C291-A940C76963EC}"/>
              </a:ext>
            </a:extLst>
          </p:cNvPr>
          <p:cNvSpPr/>
          <p:nvPr/>
        </p:nvSpPr>
        <p:spPr>
          <a:xfrm>
            <a:off x="13030386" y="7797115"/>
            <a:ext cx="2011308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Слайд </a:t>
            </a:r>
            <a:fld id="{DC613CC5-E30D-4415-8AFF-C7A603C882D4}" type="slidenum">
              <a:rPr lang="ru-RU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fld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из 14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0">
            <a:extLst>
              <a:ext uri="{FF2B5EF4-FFF2-40B4-BE49-F238E27FC236}">
                <a16:creationId xmlns:a16="http://schemas.microsoft.com/office/drawing/2014/main" id="{46E7E598-04AD-1D53-ECCB-3BB50B1FBBB2}"/>
              </a:ext>
            </a:extLst>
          </p:cNvPr>
          <p:cNvSpPr/>
          <p:nvPr/>
        </p:nvSpPr>
        <p:spPr>
          <a:xfrm>
            <a:off x="425026" y="159012"/>
            <a:ext cx="11215431" cy="705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ru-RU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Noto Serif Medium" pitchFamily="34" charset="-122"/>
                <a:cs typeface="Times New Roman" panose="02020603050405020304" pitchFamily="18" charset="0"/>
              </a:rPr>
              <a:t>Разработка прототипа мультисервисного приложения для автоматизации внутренних бизнес-процессов для руководителей ВТБ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Noto Serif Medium" pitchFamily="34" charset="-122"/>
                <a:cs typeface="Times New Roman" panose="02020603050405020304" pitchFamily="18" charset="0"/>
              </a:rPr>
              <a:t> </a:t>
            </a:r>
            <a:endParaRPr lang="ru-RU" dirty="0">
              <a:solidFill>
                <a:schemeClr val="bg2">
                  <a:lumMod val="75000"/>
                </a:schemeClr>
              </a:solidFill>
              <a:latin typeface="Times New Roman" panose="02020603050405020304" pitchFamily="18" charset="0"/>
              <a:ea typeface="Noto Serif Medium" pitchFamily="34" charset="-122"/>
              <a:cs typeface="Times New Roman" panose="02020603050405020304" pitchFamily="18" charset="0"/>
            </a:endParaRPr>
          </a:p>
          <a:p>
            <a:pPr marL="0" indent="0" algn="l">
              <a:lnSpc>
                <a:spcPts val="2300"/>
              </a:lnSpc>
              <a:buNone/>
            </a:pPr>
            <a:r>
              <a:rPr lang="ru-RU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Noto Serif Medium" pitchFamily="34" charset="-122"/>
                <a:cs typeface="Times New Roman" panose="02020603050405020304" pitchFamily="18" charset="0"/>
              </a:rPr>
              <a:t>Студента ИТ-222 Ткаченко Д.В.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8469D475-67EF-E515-7495-5A7FC41BA4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2235" y="7722154"/>
            <a:ext cx="1928165" cy="478723"/>
          </a:xfrm>
          <a:prstGeom prst="rect">
            <a:avLst/>
          </a:prstGeom>
        </p:spPr>
      </p:pic>
      <p:sp>
        <p:nvSpPr>
          <p:cNvPr id="3" name="Text 1">
            <a:extLst>
              <a:ext uri="{FF2B5EF4-FFF2-40B4-BE49-F238E27FC236}">
                <a16:creationId xmlns:a16="http://schemas.microsoft.com/office/drawing/2014/main" id="{6BC0B292-F473-280A-84F5-3AAA25EEA51E}"/>
              </a:ext>
            </a:extLst>
          </p:cNvPr>
          <p:cNvSpPr/>
          <p:nvPr/>
        </p:nvSpPr>
        <p:spPr>
          <a:xfrm>
            <a:off x="13030386" y="7797115"/>
            <a:ext cx="2011308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Слайд </a:t>
            </a:r>
            <a:fld id="{DC613CC5-E30D-4415-8AFF-C7A603C882D4}" type="slidenum">
              <a:rPr lang="ru-RU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fld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из 14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DF7A98D6-839F-03E5-A5D3-792EABD6C633}"/>
              </a:ext>
            </a:extLst>
          </p:cNvPr>
          <p:cNvSpPr/>
          <p:nvPr/>
        </p:nvSpPr>
        <p:spPr>
          <a:xfrm>
            <a:off x="594360" y="848201"/>
            <a:ext cx="11737419" cy="5306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ru-RU" sz="3300" dirty="0">
                <a:solidFill>
                  <a:srgbClr val="3A3A3A"/>
                </a:solidFill>
                <a:latin typeface="Times New Roman" panose="02020603050405020304" pitchFamily="18" charset="0"/>
                <a:ea typeface="Noto Serif Medium" pitchFamily="34" charset="-122"/>
                <a:cs typeface="Times New Roman" panose="02020603050405020304" pitchFamily="18" charset="0"/>
              </a:rPr>
              <a:t>Сравнительный анализ с существующими решениями</a:t>
            </a:r>
            <a:endParaRPr lang="en-US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74EAE17A-8063-C975-B796-9214D119339A}"/>
              </a:ext>
            </a:extLst>
          </p:cNvPr>
          <p:cNvSpPr/>
          <p:nvPr/>
        </p:nvSpPr>
        <p:spPr>
          <a:xfrm>
            <a:off x="425026" y="159012"/>
            <a:ext cx="11215431" cy="705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ru-RU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Noto Serif Medium" pitchFamily="34" charset="-122"/>
                <a:cs typeface="Times New Roman" panose="02020603050405020304" pitchFamily="18" charset="0"/>
              </a:rPr>
              <a:t>Разработка прототипа мультисервисного приложения для автоматизации внутренних бизнес-процессов для руководителей ВТБ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Noto Serif Medium" pitchFamily="34" charset="-122"/>
                <a:cs typeface="Times New Roman" panose="02020603050405020304" pitchFamily="18" charset="0"/>
              </a:rPr>
              <a:t> </a:t>
            </a:r>
            <a:endParaRPr lang="ru-RU" dirty="0">
              <a:solidFill>
                <a:schemeClr val="bg2">
                  <a:lumMod val="75000"/>
                </a:schemeClr>
              </a:solidFill>
              <a:latin typeface="Times New Roman" panose="02020603050405020304" pitchFamily="18" charset="0"/>
              <a:ea typeface="Noto Serif Medium" pitchFamily="34" charset="-122"/>
              <a:cs typeface="Times New Roman" panose="02020603050405020304" pitchFamily="18" charset="0"/>
            </a:endParaRPr>
          </a:p>
          <a:p>
            <a:pPr marL="0" indent="0" algn="l">
              <a:lnSpc>
                <a:spcPts val="2300"/>
              </a:lnSpc>
              <a:buNone/>
            </a:pPr>
            <a:r>
              <a:rPr lang="ru-RU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Noto Serif Medium" pitchFamily="34" charset="-122"/>
                <a:cs typeface="Times New Roman" panose="02020603050405020304" pitchFamily="18" charset="0"/>
              </a:rPr>
              <a:t>Студента ИТ-222 Ткаченко Д.В.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AD76101C-4D9C-1147-B7B8-08F75CDF02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7258619"/>
              </p:ext>
            </p:extLst>
          </p:nvPr>
        </p:nvGraphicFramePr>
        <p:xfrm>
          <a:off x="1006475" y="1892300"/>
          <a:ext cx="12617450" cy="4445000"/>
        </p:xfrm>
        <a:graphic>
          <a:graphicData uri="http://schemas.openxmlformats.org/drawingml/2006/table">
            <a:tbl>
              <a:tblPr>
                <a:tableStyleId>{D27102A9-8310-4765-A935-A1911B00CA55}</a:tableStyleId>
              </a:tblPr>
              <a:tblGrid>
                <a:gridCol w="2878739">
                  <a:extLst>
                    <a:ext uri="{9D8B030D-6E8A-4147-A177-3AD203B41FA5}">
                      <a16:colId xmlns:a16="http://schemas.microsoft.com/office/drawing/2014/main" val="1305999609"/>
                    </a:ext>
                  </a:extLst>
                </a:gridCol>
                <a:gridCol w="3246237">
                  <a:extLst>
                    <a:ext uri="{9D8B030D-6E8A-4147-A177-3AD203B41FA5}">
                      <a16:colId xmlns:a16="http://schemas.microsoft.com/office/drawing/2014/main" val="2189456625"/>
                    </a:ext>
                  </a:extLst>
                </a:gridCol>
                <a:gridCol w="3246237">
                  <a:extLst>
                    <a:ext uri="{9D8B030D-6E8A-4147-A177-3AD203B41FA5}">
                      <a16:colId xmlns:a16="http://schemas.microsoft.com/office/drawing/2014/main" val="3529777010"/>
                    </a:ext>
                  </a:extLst>
                </a:gridCol>
                <a:gridCol w="3246237">
                  <a:extLst>
                    <a:ext uri="{9D8B030D-6E8A-4147-A177-3AD203B41FA5}">
                      <a16:colId xmlns:a16="http://schemas.microsoft.com/office/drawing/2014/main" val="141556149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</a:rPr>
                        <a:t>Критерий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</a:rPr>
                        <a:t>Наше решение (прототип)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</a:rPr>
                        <a:t>Готовые корпоративные SaaS (например, Яндекс.Корпоратив)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</a:rPr>
                        <a:t>Внутренние скрипты / таблицы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extLst>
                  <a:ext uri="{0D108BD9-81ED-4DB2-BD59-A6C34878D82A}">
                    <a16:rowId xmlns:a16="http://schemas.microsoft.com/office/drawing/2014/main" val="38590135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1">
                          <a:effectLst/>
                        </a:rPr>
                        <a:t>Интеграция с процессами ВТБ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</a:rPr>
                        <a:t>Полная, с учётом специфики банка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</a:rPr>
                        <a:t>Общая, требует доработок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</a:rPr>
                        <a:t>Отсутствует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30537140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1">
                          <a:effectLst/>
                        </a:rPr>
                        <a:t>Кастомизация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</a:rPr>
                        <a:t>Высокая (открытый код, модульность)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</a:rPr>
                        <a:t>Ограниченная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</a:rPr>
                        <a:t>Низкая (только ручные правки)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7981229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1">
                          <a:effectLst/>
                        </a:rPr>
                        <a:t>Стоимость внедрения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</a:rPr>
                        <a:t>Средняя (разработка)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</a:rPr>
                        <a:t>Высокая (подписка + доработки)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</a:rPr>
                        <a:t>Низкая (трудозатраты)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42161008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1">
                          <a:effectLst/>
                        </a:rPr>
                        <a:t>Контроль данных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</a:rPr>
                        <a:t>Полный (данки хранятся внутри инфраструктуры ВТБ)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</a:rPr>
                        <a:t>Зависит от поставщика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</a:rPr>
                        <a:t>Риски утечек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42559537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1">
                          <a:effectLst/>
                        </a:rPr>
                        <a:t>Масштабируемость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</a:rPr>
                        <a:t>Высокая (микросервисы, </a:t>
                      </a:r>
                      <a:r>
                        <a:rPr lang="en-US" b="0">
                          <a:effectLst/>
                        </a:rPr>
                        <a:t>API)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</a:rPr>
                        <a:t>Зависит от тарифа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</a:rPr>
                        <a:t>Низкая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8342652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1">
                          <a:effectLst/>
                        </a:rPr>
                        <a:t>Время внедрения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</a:rPr>
                        <a:t>3–6 месяцев (поэтапно)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</a:rPr>
                        <a:t>1–2 месяца, но с ограничениями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 dirty="0">
                          <a:effectLst/>
                        </a:rPr>
                        <a:t>Постоянные доработки</a:t>
                      </a:r>
                      <a:endParaRPr lang="ru-RU" b="0" dirty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331551307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B1682F60-5228-5718-F129-45C6AA1CB761}"/>
              </a:ext>
            </a:extLst>
          </p:cNvPr>
          <p:cNvSpPr txBox="1"/>
          <p:nvPr/>
        </p:nvSpPr>
        <p:spPr>
          <a:xfrm>
            <a:off x="1006475" y="6735068"/>
            <a:ext cx="75214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✅ </a:t>
            </a: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Вывод: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Наше решение предлагает </a:t>
            </a: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лучший баланс кастомизации, контроля и интеграции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для специфических процессов ВТБ.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698516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9363" y="838022"/>
            <a:ext cx="13371671" cy="1123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dirty="0">
                <a:solidFill>
                  <a:srgbClr val="3A3A3A"/>
                </a:solidFill>
                <a:latin typeface="Times New Roman" panose="02020603050405020304" pitchFamily="18" charset="0"/>
                <a:ea typeface="Noto Serif Medium" pitchFamily="34" charset="-122"/>
                <a:cs typeface="Times New Roman" panose="02020603050405020304" pitchFamily="18" charset="0"/>
              </a:rPr>
              <a:t>Стейкхолдеры разрабатываемого программного продукта</a:t>
            </a:r>
            <a:endParaRPr lang="en-US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29362" y="1467468"/>
            <a:ext cx="13371671" cy="575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C4C4C"/>
                </a:solidFill>
                <a:latin typeface="Times New Roman" panose="02020603050405020304" pitchFamily="18" charset="0"/>
                <a:ea typeface="Noto Serif" pitchFamily="34" charset="-122"/>
                <a:cs typeface="Times New Roman" panose="02020603050405020304" pitchFamily="18" charset="0"/>
              </a:rPr>
              <a:t>Успех проекта зависит от эффективного взаимодействия со всеми заинтересованными сторонами, чьи потребности и требования мы должны учесть при разработке мультисервисного приложения.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1">
            <a:extLst>
              <a:ext uri="{FF2B5EF4-FFF2-40B4-BE49-F238E27FC236}">
                <a16:creationId xmlns:a16="http://schemas.microsoft.com/office/drawing/2014/main" id="{9EC47A9A-8E7C-5FAF-3B4E-BC9F2CCB66F9}"/>
              </a:ext>
            </a:extLst>
          </p:cNvPr>
          <p:cNvSpPr/>
          <p:nvPr/>
        </p:nvSpPr>
        <p:spPr>
          <a:xfrm>
            <a:off x="13030386" y="7797115"/>
            <a:ext cx="2011308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Слайд </a:t>
            </a:r>
            <a:fld id="{DC613CC5-E30D-4415-8AFF-C7A603C882D4}" type="slidenum">
              <a:rPr lang="ru-RU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fld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из1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0">
            <a:extLst>
              <a:ext uri="{FF2B5EF4-FFF2-40B4-BE49-F238E27FC236}">
                <a16:creationId xmlns:a16="http://schemas.microsoft.com/office/drawing/2014/main" id="{582228B8-FE65-7E35-8C50-2F970862C38F}"/>
              </a:ext>
            </a:extLst>
          </p:cNvPr>
          <p:cNvSpPr/>
          <p:nvPr/>
        </p:nvSpPr>
        <p:spPr>
          <a:xfrm>
            <a:off x="425026" y="159012"/>
            <a:ext cx="11215431" cy="705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ru-RU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Noto Serif Medium" pitchFamily="34" charset="-122"/>
                <a:cs typeface="Times New Roman" panose="02020603050405020304" pitchFamily="18" charset="0"/>
              </a:rPr>
              <a:t>Разработка прототипа мультисервисного приложения для автоматизации внутренних бизнес-процессов для руководителей ВТБ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Noto Serif Medium" pitchFamily="34" charset="-122"/>
                <a:cs typeface="Times New Roman" panose="02020603050405020304" pitchFamily="18" charset="0"/>
              </a:rPr>
              <a:t> </a:t>
            </a:r>
            <a:endParaRPr lang="ru-RU" dirty="0">
              <a:solidFill>
                <a:schemeClr val="bg2">
                  <a:lumMod val="75000"/>
                </a:schemeClr>
              </a:solidFill>
              <a:latin typeface="Times New Roman" panose="02020603050405020304" pitchFamily="18" charset="0"/>
              <a:ea typeface="Noto Serif Medium" pitchFamily="34" charset="-122"/>
              <a:cs typeface="Times New Roman" panose="02020603050405020304" pitchFamily="18" charset="0"/>
            </a:endParaRPr>
          </a:p>
          <a:p>
            <a:pPr marL="0" indent="0" algn="l">
              <a:lnSpc>
                <a:spcPts val="2300"/>
              </a:lnSpc>
              <a:buNone/>
            </a:pPr>
            <a:r>
              <a:rPr lang="ru-RU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Noto Serif Medium" pitchFamily="34" charset="-122"/>
                <a:cs typeface="Times New Roman" panose="02020603050405020304" pitchFamily="18" charset="0"/>
              </a:rPr>
              <a:t>Студента ИТ-222 Ткаченко Д.В.</a:t>
            </a:r>
          </a:p>
        </p:txBody>
      </p:sp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CFA6BFA3-B584-BDB3-872E-278805F01E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6412806"/>
              </p:ext>
            </p:extLst>
          </p:nvPr>
        </p:nvGraphicFramePr>
        <p:xfrm>
          <a:off x="558242" y="2190750"/>
          <a:ext cx="13580667" cy="5296535"/>
        </p:xfrm>
        <a:graphic>
          <a:graphicData uri="http://schemas.openxmlformats.org/drawingml/2006/table">
            <a:tbl>
              <a:tblPr firstRow="1" firstCol="1" bandRow="1">
                <a:tableStyleId>{5DA37D80-6434-44D0-A028-1B22A696006F}</a:tableStyleId>
              </a:tblPr>
              <a:tblGrid>
                <a:gridCol w="1611266">
                  <a:extLst>
                    <a:ext uri="{9D8B030D-6E8A-4147-A177-3AD203B41FA5}">
                      <a16:colId xmlns:a16="http://schemas.microsoft.com/office/drawing/2014/main" val="3290119817"/>
                    </a:ext>
                  </a:extLst>
                </a:gridCol>
                <a:gridCol w="2992350">
                  <a:extLst>
                    <a:ext uri="{9D8B030D-6E8A-4147-A177-3AD203B41FA5}">
                      <a16:colId xmlns:a16="http://schemas.microsoft.com/office/drawing/2014/main" val="612880047"/>
                    </a:ext>
                  </a:extLst>
                </a:gridCol>
                <a:gridCol w="2992350">
                  <a:extLst>
                    <a:ext uri="{9D8B030D-6E8A-4147-A177-3AD203B41FA5}">
                      <a16:colId xmlns:a16="http://schemas.microsoft.com/office/drawing/2014/main" val="926086769"/>
                    </a:ext>
                  </a:extLst>
                </a:gridCol>
                <a:gridCol w="2934934">
                  <a:extLst>
                    <a:ext uri="{9D8B030D-6E8A-4147-A177-3AD203B41FA5}">
                      <a16:colId xmlns:a16="http://schemas.microsoft.com/office/drawing/2014/main" val="3562037015"/>
                    </a:ext>
                  </a:extLst>
                </a:gridCol>
                <a:gridCol w="3049767">
                  <a:extLst>
                    <a:ext uri="{9D8B030D-6E8A-4147-A177-3AD203B41FA5}">
                      <a16:colId xmlns:a16="http://schemas.microsoft.com/office/drawing/2014/main" val="2428873428"/>
                    </a:ext>
                  </a:extLst>
                </a:gridCol>
              </a:tblGrid>
              <a:tr h="386238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500" b="0">
                          <a:effectLst/>
                          <a:latin typeface="quote-cjk-patch"/>
                        </a:rPr>
                        <a:t>Стейкхолдер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500" b="0">
                          <a:effectLst/>
                          <a:latin typeface="quote-cjk-patch"/>
                        </a:rPr>
                        <a:t>Роль по отношению к системе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500" b="0">
                          <a:effectLst/>
                          <a:latin typeface="quote-cjk-patch"/>
                        </a:rPr>
                        <a:t>Потребность (</a:t>
                      </a:r>
                      <a:r>
                        <a:rPr lang="en-US" sz="1500" b="0">
                          <a:effectLst/>
                          <a:latin typeface="quote-cjk-patch"/>
                        </a:rPr>
                        <a:t>Need)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500" b="0">
                          <a:effectLst/>
                          <a:latin typeface="quote-cjk-patch"/>
                        </a:rPr>
                        <a:t>Проблема (</a:t>
                      </a:r>
                      <a:r>
                        <a:rPr lang="en-US" sz="1500" b="0">
                          <a:effectLst/>
                          <a:latin typeface="quote-cjk-patch"/>
                        </a:rPr>
                        <a:t>Problem)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500" b="0">
                          <a:effectLst/>
                          <a:latin typeface="quote-cjk-patch"/>
                        </a:rPr>
                        <a:t>Метатребование (</a:t>
                      </a:r>
                      <a:r>
                        <a:rPr lang="en-US" sz="1500" b="0">
                          <a:effectLst/>
                          <a:latin typeface="quote-cjk-patch"/>
                        </a:rPr>
                        <a:t>Meta‑requirement)</a:t>
                      </a:r>
                    </a:p>
                  </a:txBody>
                  <a:tcPr marL="121920" marR="121920" marT="76200" marB="76200" anchor="ctr"/>
                </a:tc>
                <a:extLst>
                  <a:ext uri="{0D108BD9-81ED-4DB2-BD59-A6C34878D82A}">
                    <a16:rowId xmlns:a16="http://schemas.microsoft.com/office/drawing/2014/main" val="3565499990"/>
                  </a:ext>
                </a:extLst>
              </a:tr>
              <a:tr h="973321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500" b="0">
                          <a:effectLst/>
                          <a:latin typeface="quote-cjk-patch"/>
                        </a:rPr>
                        <a:t>Руководитель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500" b="1">
                          <a:effectLst/>
                          <a:latin typeface="quote-cjk-patch"/>
                        </a:rPr>
                        <a:t>Бизнес-пользователь (лицо, принимающее решения)</a:t>
                      </a:r>
                      <a:endParaRPr lang="ru-RU" sz="1500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500" b="0">
                          <a:effectLst/>
                          <a:latin typeface="quote-cjk-patch"/>
                        </a:rPr>
                        <a:t>Автоматизация рутины, централизованный контроль и прозрачность процесса.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500" b="0" dirty="0">
                          <a:effectLst/>
                          <a:latin typeface="quote-cjk-patch"/>
                        </a:rPr>
                        <a:t>Высокая нагрузка из-за ручной обработки; человеческие ошибки; задержки; отсутствие единого интерфейса.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500" b="0">
                          <a:effectLst/>
                          <a:latin typeface="quote-cjk-patch"/>
                        </a:rPr>
                        <a:t>Система должна быть надежной, иметь веб-интерфейс для управления заявками и формирования отчетов, а также отправлять уведомления.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710250784"/>
                  </a:ext>
                </a:extLst>
              </a:tr>
              <a:tr h="82655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500" b="0">
                          <a:effectLst/>
                          <a:latin typeface="quote-cjk-patch"/>
                        </a:rPr>
                        <a:t>Сотрудник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500" b="1">
                          <a:effectLst/>
                          <a:latin typeface="quote-cjk-patch"/>
                        </a:rPr>
                        <a:t>Конечный пользователь (заявитель)</a:t>
                      </a:r>
                      <a:endParaRPr lang="ru-RU" sz="1500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500" b="0">
                          <a:effectLst/>
                          <a:latin typeface="quote-cjk-patch"/>
                        </a:rPr>
                        <a:t>Удобный и быстрый способ подачи заявок, получение подтверждений и статусов.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500" b="0">
                          <a:effectLst/>
                          <a:latin typeface="quote-cjk-patch"/>
                        </a:rPr>
                        <a:t>Нестандартизированная коммуникация (мессенджеры, почта); отсутствие обратной связи по статусу заявки.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500" b="0">
                          <a:effectLst/>
                          <a:latin typeface="quote-cjk-patch"/>
                        </a:rPr>
                        <a:t>Интерфейс подачи заявок должен быть простым и доступным через Telegram-бота, с автоматической валидацией данных.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389157634"/>
                  </a:ext>
                </a:extLst>
              </a:tr>
              <a:tr h="973321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500" b="0">
                          <a:effectLst/>
                          <a:latin typeface="quote-cjk-patch"/>
                        </a:rPr>
                        <a:t>Администратор (Админ)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500" b="1">
                          <a:effectLst/>
                          <a:latin typeface="quote-cjk-patch"/>
                        </a:rPr>
                        <a:t>Технический администратор / оператор системы</a:t>
                      </a:r>
                      <a:endParaRPr lang="ru-RU" sz="1500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500" b="0">
                          <a:effectLst/>
                          <a:latin typeface="quote-cjk-patch"/>
                        </a:rPr>
                        <a:t>Стабильность системы, безопасность данных, возможность диагностики и аудита.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500" b="0">
                          <a:effectLst/>
                          <a:latin typeface="quote-cjk-patch"/>
                        </a:rPr>
                        <a:t>Технические сбои, необходимость расследования инцидентов.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500" b="0">
                          <a:effectLst/>
                          <a:latin typeface="quote-cjk-patch"/>
                        </a:rPr>
                        <a:t>Система должна предоставлять журналы аудита, инструменты мониторинга и обеспечивать резервное копирование.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623865653"/>
                  </a:ext>
                </a:extLst>
              </a:tr>
              <a:tr h="67978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500" b="0">
                          <a:effectLst/>
                          <a:latin typeface="quote-cjk-patch"/>
                        </a:rPr>
                        <a:t>Департамент колл-центра ВТБ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500" b="1">
                          <a:effectLst/>
                          <a:latin typeface="quote-cjk-patch"/>
                        </a:rPr>
                        <a:t>Бизнес-заказчик / владелец продукта</a:t>
                      </a:r>
                      <a:endParaRPr lang="ru-RU" sz="1500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500" b="0">
                          <a:effectLst/>
                          <a:latin typeface="quote-cjk-patch"/>
                        </a:rPr>
                        <a:t>Повышение операционной эффективности за счет автоматизации внутренних процессов.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500" b="0">
                          <a:effectLst/>
                          <a:latin typeface="quote-cjk-patch"/>
                        </a:rPr>
                        <a:t>Неэффективные, разрозненные и ручные процессы.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500" b="0" dirty="0">
                          <a:effectLst/>
                          <a:latin typeface="quote-cjk-patch"/>
                        </a:rPr>
                        <a:t>Архитектура приложения должна быть модульной для легкого добавления новых сервисов в будущем.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705588528"/>
                  </a:ext>
                </a:extLst>
              </a:tr>
            </a:tbl>
          </a:graphicData>
        </a:graphic>
      </p:graphicFrame>
      <p:sp>
        <p:nvSpPr>
          <p:cNvPr id="33" name="Rectangle 1">
            <a:extLst>
              <a:ext uri="{FF2B5EF4-FFF2-40B4-BE49-F238E27FC236}">
                <a16:creationId xmlns:a16="http://schemas.microsoft.com/office/drawing/2014/main" id="{2D96ADBF-FD1C-9299-0CA2-5F5B9D5E9D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3760346" y="2190750"/>
            <a:ext cx="7589832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807BFE3-EA98-C3F8-EA9D-4F50EFDB01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2235" y="7750877"/>
            <a:ext cx="1928165" cy="478723"/>
          </a:xfrm>
          <a:prstGeom prst="rect">
            <a:avLst/>
          </a:prstGeom>
        </p:spPr>
      </p:pic>
      <p:sp>
        <p:nvSpPr>
          <p:cNvPr id="5" name="Text 1">
            <a:extLst>
              <a:ext uri="{FF2B5EF4-FFF2-40B4-BE49-F238E27FC236}">
                <a16:creationId xmlns:a16="http://schemas.microsoft.com/office/drawing/2014/main" id="{8E8D10CE-2212-0833-1690-89CB3117252E}"/>
              </a:ext>
            </a:extLst>
          </p:cNvPr>
          <p:cNvSpPr/>
          <p:nvPr/>
        </p:nvSpPr>
        <p:spPr>
          <a:xfrm>
            <a:off x="13030386" y="7825838"/>
            <a:ext cx="2011308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Слайд </a:t>
            </a:r>
            <a:fld id="{DC613CC5-E30D-4415-8AFF-C7A603C882D4}" type="slidenum">
              <a:rPr lang="ru-RU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fld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из 14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B19E91DE-9281-2244-1419-6C5D8C75D924}"/>
              </a:ext>
            </a:extLst>
          </p:cNvPr>
          <p:cNvSpPr/>
          <p:nvPr/>
        </p:nvSpPr>
        <p:spPr>
          <a:xfrm>
            <a:off x="629363" y="838022"/>
            <a:ext cx="13371671" cy="1123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ru-RU" sz="3500" dirty="0">
                <a:solidFill>
                  <a:srgbClr val="3A3A3A"/>
                </a:solidFill>
                <a:latin typeface="Times New Roman" panose="02020603050405020304" pitchFamily="18" charset="0"/>
                <a:ea typeface="Noto Serif Medium" pitchFamily="34" charset="-122"/>
                <a:cs typeface="Times New Roman" panose="02020603050405020304" pitchFamily="18" charset="0"/>
              </a:rPr>
              <a:t>Архитектура проекта</a:t>
            </a:r>
            <a:endParaRPr lang="en-US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47E9E8F9-07B2-0410-FE88-DCA1F6D0BD83}"/>
              </a:ext>
            </a:extLst>
          </p:cNvPr>
          <p:cNvSpPr/>
          <p:nvPr/>
        </p:nvSpPr>
        <p:spPr>
          <a:xfrm>
            <a:off x="425026" y="159012"/>
            <a:ext cx="11215431" cy="705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ru-RU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Noto Serif Medium" pitchFamily="34" charset="-122"/>
                <a:cs typeface="Times New Roman" panose="02020603050405020304" pitchFamily="18" charset="0"/>
              </a:rPr>
              <a:t>Разработка прототипа мультисервисного приложения для автоматизации внутренних бизнес-процессов для руководителей ВТБ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Noto Serif Medium" pitchFamily="34" charset="-122"/>
                <a:cs typeface="Times New Roman" panose="02020603050405020304" pitchFamily="18" charset="0"/>
              </a:rPr>
              <a:t> </a:t>
            </a:r>
            <a:endParaRPr lang="ru-RU" dirty="0">
              <a:solidFill>
                <a:schemeClr val="bg2">
                  <a:lumMod val="75000"/>
                </a:schemeClr>
              </a:solidFill>
              <a:latin typeface="Times New Roman" panose="02020603050405020304" pitchFamily="18" charset="0"/>
              <a:ea typeface="Noto Serif Medium" pitchFamily="34" charset="-122"/>
              <a:cs typeface="Times New Roman" panose="02020603050405020304" pitchFamily="18" charset="0"/>
            </a:endParaRPr>
          </a:p>
          <a:p>
            <a:pPr marL="0" indent="0" algn="l">
              <a:lnSpc>
                <a:spcPts val="2300"/>
              </a:lnSpc>
              <a:buNone/>
            </a:pPr>
            <a:r>
              <a:rPr lang="ru-RU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Noto Serif Medium" pitchFamily="34" charset="-122"/>
                <a:cs typeface="Times New Roman" panose="02020603050405020304" pitchFamily="18" charset="0"/>
              </a:rPr>
              <a:t>Студента ИТ-222 Ткаченко Д.В.</a:t>
            </a:r>
          </a:p>
        </p:txBody>
      </p:sp>
      <p:pic>
        <p:nvPicPr>
          <p:cNvPr id="9" name="Рисунок 8" descr="Изображение выглядит как текст, снимок экрана, диаграмма, Пла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E328D67-869C-72B2-2F45-542A653C3E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363" y="1543443"/>
            <a:ext cx="11889246" cy="6208378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E1E6449-557C-C778-E208-2352113092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2235" y="7722154"/>
            <a:ext cx="1928165" cy="478723"/>
          </a:xfrm>
          <a:prstGeom prst="rect">
            <a:avLst/>
          </a:prstGeom>
        </p:spPr>
      </p:pic>
      <p:sp>
        <p:nvSpPr>
          <p:cNvPr id="7" name="Text 1">
            <a:extLst>
              <a:ext uri="{FF2B5EF4-FFF2-40B4-BE49-F238E27FC236}">
                <a16:creationId xmlns:a16="http://schemas.microsoft.com/office/drawing/2014/main" id="{878877BC-D3A7-4506-D2C1-33013FCA4F7D}"/>
              </a:ext>
            </a:extLst>
          </p:cNvPr>
          <p:cNvSpPr/>
          <p:nvPr/>
        </p:nvSpPr>
        <p:spPr>
          <a:xfrm>
            <a:off x="13030386" y="7797115"/>
            <a:ext cx="2011308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Слайд </a:t>
            </a:r>
            <a:fld id="{DC613CC5-E30D-4415-8AFF-C7A603C882D4}" type="slidenum">
              <a:rPr lang="ru-RU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fld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из 14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2793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1264" y="711578"/>
            <a:ext cx="13444776" cy="1058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dirty="0">
                <a:solidFill>
                  <a:srgbClr val="3A3A3A"/>
                </a:solidFill>
                <a:latin typeface="Times New Roman" panose="02020603050405020304" pitchFamily="18" charset="0"/>
                <a:ea typeface="Noto Serif Medium" pitchFamily="34" charset="-122"/>
                <a:cs typeface="Times New Roman" panose="02020603050405020304" pitchFamily="18" charset="0"/>
              </a:rPr>
              <a:t>Функциональные требования к мультисервисному приложению</a:t>
            </a:r>
            <a:endParaRPr lang="en-US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1">
            <a:extLst>
              <a:ext uri="{FF2B5EF4-FFF2-40B4-BE49-F238E27FC236}">
                <a16:creationId xmlns:a16="http://schemas.microsoft.com/office/drawing/2014/main" id="{57EC4CE0-F115-9FC3-66E2-0B26A6BBB722}"/>
              </a:ext>
            </a:extLst>
          </p:cNvPr>
          <p:cNvSpPr/>
          <p:nvPr/>
        </p:nvSpPr>
        <p:spPr>
          <a:xfrm>
            <a:off x="13030386" y="7797115"/>
            <a:ext cx="2011308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0">
            <a:extLst>
              <a:ext uri="{FF2B5EF4-FFF2-40B4-BE49-F238E27FC236}">
                <a16:creationId xmlns:a16="http://schemas.microsoft.com/office/drawing/2014/main" id="{14CBE0FD-50E1-5F6C-1B0B-5931A50C1880}"/>
              </a:ext>
            </a:extLst>
          </p:cNvPr>
          <p:cNvSpPr/>
          <p:nvPr/>
        </p:nvSpPr>
        <p:spPr>
          <a:xfrm>
            <a:off x="425026" y="159012"/>
            <a:ext cx="11215431" cy="705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ru-RU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Noto Serif Medium" pitchFamily="34" charset="-122"/>
                <a:cs typeface="Times New Roman" panose="02020603050405020304" pitchFamily="18" charset="0"/>
              </a:rPr>
              <a:t>Разработка прототипа мультисервисного приложения для автоматизации внутренних бизнес-процессов для руководителей ВТБ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Noto Serif Medium" pitchFamily="34" charset="-122"/>
                <a:cs typeface="Times New Roman" panose="02020603050405020304" pitchFamily="18" charset="0"/>
              </a:rPr>
              <a:t> </a:t>
            </a:r>
            <a:endParaRPr lang="ru-RU" dirty="0">
              <a:solidFill>
                <a:schemeClr val="bg2">
                  <a:lumMod val="75000"/>
                </a:schemeClr>
              </a:solidFill>
              <a:latin typeface="Times New Roman" panose="02020603050405020304" pitchFamily="18" charset="0"/>
              <a:ea typeface="Noto Serif Medium" pitchFamily="34" charset="-122"/>
              <a:cs typeface="Times New Roman" panose="02020603050405020304" pitchFamily="18" charset="0"/>
            </a:endParaRPr>
          </a:p>
          <a:p>
            <a:pPr marL="0" indent="0" algn="l">
              <a:lnSpc>
                <a:spcPts val="2300"/>
              </a:lnSpc>
              <a:buNone/>
            </a:pPr>
            <a:r>
              <a:rPr lang="ru-RU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Noto Serif Medium" pitchFamily="34" charset="-122"/>
                <a:cs typeface="Times New Roman" panose="02020603050405020304" pitchFamily="18" charset="0"/>
              </a:rPr>
              <a:t>Студента ИТ-222 Ткаченко Д.В.</a:t>
            </a:r>
          </a:p>
        </p:txBody>
      </p:sp>
      <p:graphicFrame>
        <p:nvGraphicFramePr>
          <p:cNvPr id="27" name="Таблица 26">
            <a:extLst>
              <a:ext uri="{FF2B5EF4-FFF2-40B4-BE49-F238E27FC236}">
                <a16:creationId xmlns:a16="http://schemas.microsoft.com/office/drawing/2014/main" id="{C76284B0-6A6B-5740-9C4A-6F56FD1070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5325167"/>
              </p:ext>
            </p:extLst>
          </p:nvPr>
        </p:nvGraphicFramePr>
        <p:xfrm>
          <a:off x="591263" y="1851102"/>
          <a:ext cx="13537332" cy="5531007"/>
        </p:xfrm>
        <a:graphic>
          <a:graphicData uri="http://schemas.openxmlformats.org/drawingml/2006/table">
            <a:tbl>
              <a:tblPr>
                <a:tableStyleId>{1E171933-4619-4E11-9A3F-F7608DF75F80}</a:tableStyleId>
              </a:tblPr>
              <a:tblGrid>
                <a:gridCol w="6768666">
                  <a:extLst>
                    <a:ext uri="{9D8B030D-6E8A-4147-A177-3AD203B41FA5}">
                      <a16:colId xmlns:a16="http://schemas.microsoft.com/office/drawing/2014/main" val="3997226339"/>
                    </a:ext>
                  </a:extLst>
                </a:gridCol>
                <a:gridCol w="6768666">
                  <a:extLst>
                    <a:ext uri="{9D8B030D-6E8A-4147-A177-3AD203B41FA5}">
                      <a16:colId xmlns:a16="http://schemas.microsoft.com/office/drawing/2014/main" val="716108062"/>
                    </a:ext>
                  </a:extLst>
                </a:gridCol>
              </a:tblGrid>
              <a:tr h="391529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700" b="0">
                          <a:effectLst/>
                        </a:rPr>
                        <a:t>Проблема (из слайда 2)</a:t>
                      </a:r>
                      <a:endParaRPr lang="ru-RU" sz="1700" b="0">
                        <a:effectLst/>
                        <a:latin typeface="quote-cjk-patch"/>
                      </a:endParaRPr>
                    </a:p>
                  </a:txBody>
                  <a:tcPr marL="86820" marR="115761" marT="72350" marB="723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700" b="0">
                          <a:effectLst/>
                        </a:rPr>
                        <a:t>Требование к системе</a:t>
                      </a:r>
                      <a:endParaRPr lang="ru-RU" sz="1700" b="0">
                        <a:effectLst/>
                        <a:latin typeface="quote-cjk-patch"/>
                      </a:endParaRPr>
                    </a:p>
                  </a:txBody>
                  <a:tcPr marL="115761" marR="115761" marT="72350" marB="72350" anchor="ctr"/>
                </a:tc>
                <a:extLst>
                  <a:ext uri="{0D108BD9-81ED-4DB2-BD59-A6C34878D82A}">
                    <a16:rowId xmlns:a16="http://schemas.microsoft.com/office/drawing/2014/main" val="2921378395"/>
                  </a:ext>
                </a:extLst>
              </a:tr>
              <a:tr h="881042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700" b="0">
                          <a:effectLst/>
                        </a:rPr>
                        <a:t>Разрозненные каналы подачи заявок</a:t>
                      </a:r>
                      <a:endParaRPr lang="ru-RU" sz="1700" b="0">
                        <a:effectLst/>
                        <a:latin typeface="quote-cjk-patch"/>
                      </a:endParaRPr>
                    </a:p>
                  </a:txBody>
                  <a:tcPr marL="86820" marR="115761" marT="72350" marB="723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700" b="0">
                          <a:effectLst/>
                        </a:rPr>
                        <a:t>Единый веб-интерфейс и мобильное приложение для подачи заявок</a:t>
                      </a:r>
                      <a:endParaRPr lang="ru-RU" sz="1700" b="0">
                        <a:effectLst/>
                        <a:latin typeface="quote-cjk-patch"/>
                      </a:endParaRPr>
                    </a:p>
                  </a:txBody>
                  <a:tcPr marL="115761" marR="86820" marT="72350" marB="72350" anchor="ctr"/>
                </a:tc>
                <a:extLst>
                  <a:ext uri="{0D108BD9-81ED-4DB2-BD59-A6C34878D82A}">
                    <a16:rowId xmlns:a16="http://schemas.microsoft.com/office/drawing/2014/main" val="49750612"/>
                  </a:ext>
                </a:extLst>
              </a:tr>
              <a:tr h="1125798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700" b="0" dirty="0">
                          <a:effectLst/>
                        </a:rPr>
                        <a:t>Ручной перенос данных в Яндекс Go</a:t>
                      </a:r>
                      <a:endParaRPr lang="ru-RU" sz="1700" b="0" dirty="0">
                        <a:effectLst/>
                        <a:latin typeface="quote-cjk-patch"/>
                      </a:endParaRPr>
                    </a:p>
                  </a:txBody>
                  <a:tcPr marL="86820" marR="115761" marT="72350" marB="723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700" b="0">
                          <a:effectLst/>
                        </a:rPr>
                        <a:t>Прямая интеграция с API Яндекс Такси для автоматического создания заказа</a:t>
                      </a:r>
                      <a:endParaRPr lang="ru-RU" sz="1700" b="0">
                        <a:effectLst/>
                        <a:latin typeface="quote-cjk-patch"/>
                      </a:endParaRPr>
                    </a:p>
                  </a:txBody>
                  <a:tcPr marL="115761" marR="86820" marT="72350" marB="72350" anchor="ctr"/>
                </a:tc>
                <a:extLst>
                  <a:ext uri="{0D108BD9-81ED-4DB2-BD59-A6C34878D82A}">
                    <a16:rowId xmlns:a16="http://schemas.microsoft.com/office/drawing/2014/main" val="481945397"/>
                  </a:ext>
                </a:extLst>
              </a:tr>
              <a:tr h="1125798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700" b="0">
                          <a:effectLst/>
                        </a:rPr>
                        <a:t>Ошибки в данных (адреса, телефоны)</a:t>
                      </a:r>
                      <a:endParaRPr lang="ru-RU" sz="1700" b="0">
                        <a:effectLst/>
                        <a:latin typeface="quote-cjk-patch"/>
                      </a:endParaRPr>
                    </a:p>
                  </a:txBody>
                  <a:tcPr marL="86820" marR="115761" marT="72350" marB="723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700" b="0">
                          <a:effectLst/>
                        </a:rPr>
                        <a:t>Валидация вводимых данных, автодополнение адресов через Яндекс Карты</a:t>
                      </a:r>
                      <a:endParaRPr lang="ru-RU" sz="1700" b="0">
                        <a:effectLst/>
                        <a:latin typeface="quote-cjk-patch"/>
                      </a:endParaRPr>
                    </a:p>
                  </a:txBody>
                  <a:tcPr marL="115761" marR="86820" marT="72350" marB="72350" anchor="ctr"/>
                </a:tc>
                <a:extLst>
                  <a:ext uri="{0D108BD9-81ED-4DB2-BD59-A6C34878D82A}">
                    <a16:rowId xmlns:a16="http://schemas.microsoft.com/office/drawing/2014/main" val="4122670711"/>
                  </a:ext>
                </a:extLst>
              </a:tr>
              <a:tr h="1125798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700" b="0">
                          <a:effectLst/>
                        </a:rPr>
                        <a:t>Невозможность контроля лимитов</a:t>
                      </a:r>
                      <a:endParaRPr lang="ru-RU" sz="1700" b="0">
                        <a:effectLst/>
                        <a:latin typeface="quote-cjk-patch"/>
                      </a:endParaRPr>
                    </a:p>
                  </a:txBody>
                  <a:tcPr marL="86820" marR="115761" marT="72350" marB="723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700" b="0">
                          <a:effectLst/>
                        </a:rPr>
                        <a:t>Настройка лимитов поездок, уведомления руководителю при превышении</a:t>
                      </a:r>
                      <a:endParaRPr lang="ru-RU" sz="1700" b="0">
                        <a:effectLst/>
                        <a:latin typeface="quote-cjk-patch"/>
                      </a:endParaRPr>
                    </a:p>
                  </a:txBody>
                  <a:tcPr marL="115761" marR="86820" marT="72350" marB="72350" anchor="ctr"/>
                </a:tc>
                <a:extLst>
                  <a:ext uri="{0D108BD9-81ED-4DB2-BD59-A6C34878D82A}">
                    <a16:rowId xmlns:a16="http://schemas.microsoft.com/office/drawing/2014/main" val="4266209311"/>
                  </a:ext>
                </a:extLst>
              </a:tr>
              <a:tr h="881042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700" b="0">
                          <a:effectLst/>
                        </a:rPr>
                        <a:t>Потери времени на рутину</a:t>
                      </a:r>
                      <a:endParaRPr lang="ru-RU" sz="1700" b="0">
                        <a:effectLst/>
                        <a:latin typeface="quote-cjk-patch"/>
                      </a:endParaRPr>
                    </a:p>
                  </a:txBody>
                  <a:tcPr marL="86820" marR="115761" marT="72350" marB="723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700" b="0" dirty="0">
                          <a:effectLst/>
                        </a:rPr>
                        <a:t>Автоматическое формирование отчётов, дашборды для аналитики</a:t>
                      </a:r>
                      <a:endParaRPr lang="ru-RU" sz="1700" b="0" dirty="0">
                        <a:effectLst/>
                        <a:latin typeface="quote-cjk-patch"/>
                      </a:endParaRPr>
                    </a:p>
                  </a:txBody>
                  <a:tcPr marL="115761" marR="86820" marT="72350" marB="72350" anchor="ctr"/>
                </a:tc>
                <a:extLst>
                  <a:ext uri="{0D108BD9-81ED-4DB2-BD59-A6C34878D82A}">
                    <a16:rowId xmlns:a16="http://schemas.microsoft.com/office/drawing/2014/main" val="1026343134"/>
                  </a:ext>
                </a:extLst>
              </a:tr>
            </a:tbl>
          </a:graphicData>
        </a:graphic>
      </p:graphicFrame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A243A8D9-F02D-A539-C6EF-18DF13D0AA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2235" y="7737017"/>
            <a:ext cx="1928165" cy="478723"/>
          </a:xfrm>
          <a:prstGeom prst="rect">
            <a:avLst/>
          </a:prstGeom>
        </p:spPr>
      </p:pic>
      <p:sp>
        <p:nvSpPr>
          <p:cNvPr id="29" name="Text 1">
            <a:extLst>
              <a:ext uri="{FF2B5EF4-FFF2-40B4-BE49-F238E27FC236}">
                <a16:creationId xmlns:a16="http://schemas.microsoft.com/office/drawing/2014/main" id="{7C382D4A-1EB5-5215-8588-070F1171A975}"/>
              </a:ext>
            </a:extLst>
          </p:cNvPr>
          <p:cNvSpPr/>
          <p:nvPr/>
        </p:nvSpPr>
        <p:spPr>
          <a:xfrm>
            <a:off x="13030386" y="7811978"/>
            <a:ext cx="2011308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Слайд </a:t>
            </a:r>
            <a:fld id="{DC613CC5-E30D-4415-8AFF-C7A603C882D4}" type="slidenum">
              <a:rPr lang="ru-RU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fld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из 14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3999" y="712221"/>
            <a:ext cx="4028718" cy="5036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50"/>
              </a:lnSpc>
              <a:buNone/>
            </a:pPr>
            <a:r>
              <a:rPr lang="en-US" sz="3150" dirty="0">
                <a:solidFill>
                  <a:srgbClr val="3A3A3A"/>
                </a:solidFill>
                <a:latin typeface="Times New Roman" panose="02020603050405020304" pitchFamily="18" charset="0"/>
                <a:ea typeface="Noto Serif Medium" pitchFamily="34" charset="-122"/>
                <a:cs typeface="Times New Roman" panose="02020603050405020304" pitchFamily="18" charset="0"/>
              </a:rPr>
              <a:t>Инструментарий</a:t>
            </a:r>
            <a:endParaRPr lang="en-US" sz="3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63999" y="1538157"/>
            <a:ext cx="13502402" cy="5157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4C4C4C"/>
                </a:solidFill>
                <a:latin typeface="Times New Roman" panose="02020603050405020304" pitchFamily="18" charset="0"/>
                <a:ea typeface="Noto Serif" pitchFamily="34" charset="-122"/>
                <a:cs typeface="Times New Roman" panose="02020603050405020304" pitchFamily="18" charset="0"/>
              </a:rPr>
              <a:t>Для разработки модуля автоматизации корпоративных такси мы используем проверенный стек технологий, обеспечивающий надежность, гибкость и масштабируемость системы.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1989674" y="2980119"/>
            <a:ext cx="2014299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4C4C4C"/>
                </a:solidFill>
                <a:latin typeface="Times New Roman" panose="02020603050405020304" pitchFamily="18" charset="0"/>
                <a:ea typeface="Noto Serif Medium" pitchFamily="34" charset="-122"/>
                <a:cs typeface="Times New Roman" panose="02020603050405020304" pitchFamily="18" charset="0"/>
              </a:rPr>
              <a:t>PHP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1989674" y="3328615"/>
            <a:ext cx="4366498" cy="773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4C4C4C"/>
                </a:solidFill>
                <a:latin typeface="Times New Roman" panose="02020603050405020304" pitchFamily="18" charset="0"/>
                <a:ea typeface="Noto Serif" pitchFamily="34" charset="-122"/>
                <a:cs typeface="Times New Roman" panose="02020603050405020304" pitchFamily="18" charset="0"/>
              </a:rPr>
              <a:t>Ядро бэкенда для обработки бизнес-логики, управления запросами и взаимодействия с базами данных.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9"/>
          <p:cNvSpPr/>
          <p:nvPr/>
        </p:nvSpPr>
        <p:spPr>
          <a:xfrm>
            <a:off x="7788709" y="4559748"/>
            <a:ext cx="2014299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4C4C4C"/>
                </a:solidFill>
                <a:latin typeface="Times New Roman" panose="02020603050405020304" pitchFamily="18" charset="0"/>
                <a:ea typeface="Noto Serif Medium" pitchFamily="34" charset="-122"/>
                <a:cs typeface="Times New Roman" panose="02020603050405020304" pitchFamily="18" charset="0"/>
              </a:rPr>
              <a:t>JavaScript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0"/>
          <p:cNvSpPr/>
          <p:nvPr/>
        </p:nvSpPr>
        <p:spPr>
          <a:xfrm>
            <a:off x="7788709" y="4908244"/>
            <a:ext cx="4366617" cy="773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4C4C4C"/>
                </a:solidFill>
                <a:latin typeface="Times New Roman" panose="02020603050405020304" pitchFamily="18" charset="0"/>
                <a:ea typeface="Noto Serif" pitchFamily="34" charset="-122"/>
                <a:cs typeface="Times New Roman" panose="02020603050405020304" pitchFamily="18" charset="0"/>
              </a:rPr>
              <a:t>Обеспечивает динамичный и интерактивный пользовательский интерфейс для комфортной работы.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2"/>
          <p:cNvSpPr/>
          <p:nvPr/>
        </p:nvSpPr>
        <p:spPr>
          <a:xfrm>
            <a:off x="1989674" y="4656427"/>
            <a:ext cx="2014299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4C4C4C"/>
                </a:solidFill>
                <a:latin typeface="Times New Roman" panose="02020603050405020304" pitchFamily="18" charset="0"/>
                <a:ea typeface="Noto Serif Medium" pitchFamily="34" charset="-122"/>
                <a:cs typeface="Times New Roman" panose="02020603050405020304" pitchFamily="18" charset="0"/>
              </a:rPr>
              <a:t>Базы данных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3"/>
          <p:cNvSpPr/>
          <p:nvPr/>
        </p:nvSpPr>
        <p:spPr>
          <a:xfrm>
            <a:off x="1989674" y="5004923"/>
            <a:ext cx="4366498" cy="773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4C4C4C"/>
                </a:solidFill>
                <a:latin typeface="Times New Roman" panose="02020603050405020304" pitchFamily="18" charset="0"/>
                <a:ea typeface="Noto Serif" pitchFamily="34" charset="-122"/>
                <a:cs typeface="Times New Roman" panose="02020603050405020304" pitchFamily="18" charset="0"/>
              </a:rPr>
              <a:t>MySQL и PostgreSQL для надежного хранения, управления и быстрого доступа ко всем данным поездок.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1"/>
          <p:cNvSpPr/>
          <p:nvPr/>
        </p:nvSpPr>
        <p:spPr>
          <a:xfrm>
            <a:off x="7808832" y="2850196"/>
            <a:ext cx="2395299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4C4C4C"/>
                </a:solidFill>
                <a:latin typeface="Times New Roman" panose="02020603050405020304" pitchFamily="18" charset="0"/>
                <a:ea typeface="Noto Serif Medium" pitchFamily="34" charset="-122"/>
                <a:cs typeface="Times New Roman" panose="02020603050405020304" pitchFamily="18" charset="0"/>
              </a:rPr>
              <a:t>Python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2"/>
          <p:cNvSpPr/>
          <p:nvPr/>
        </p:nvSpPr>
        <p:spPr>
          <a:xfrm>
            <a:off x="7788709" y="3189233"/>
            <a:ext cx="4913525" cy="10830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ru-RU" sz="1250" dirty="0">
                <a:solidFill>
                  <a:srgbClr val="4C4C4C"/>
                </a:solidFill>
                <a:latin typeface="Times New Roman" panose="02020603050405020304" pitchFamily="18" charset="0"/>
                <a:ea typeface="Noto Serif" pitchFamily="34" charset="-122"/>
                <a:cs typeface="Times New Roman" panose="02020603050405020304" pitchFamily="18" charset="0"/>
              </a:rPr>
              <a:t>Серверная логика для второго интерфейса (Python-клиент), обработка запросов, интеграция с внешними API (включая Яндекс </a:t>
            </a:r>
            <a:r>
              <a:rPr lang="ru-RU" sz="1250" dirty="0" err="1">
                <a:solidFill>
                  <a:srgbClr val="4C4C4C"/>
                </a:solidFill>
                <a:latin typeface="Times New Roman" panose="02020603050405020304" pitchFamily="18" charset="0"/>
                <a:ea typeface="Noto Serif" pitchFamily="34" charset="-122"/>
                <a:cs typeface="Times New Roman" panose="02020603050405020304" pitchFamily="18" charset="0"/>
              </a:rPr>
              <a:t>Геокодер</a:t>
            </a:r>
            <a:r>
              <a:rPr lang="ru-RU" sz="1250" dirty="0">
                <a:solidFill>
                  <a:srgbClr val="4C4C4C"/>
                </a:solidFill>
                <a:latin typeface="Times New Roman" panose="02020603050405020304" pitchFamily="18" charset="0"/>
                <a:ea typeface="Noto Serif" pitchFamily="34" charset="-122"/>
                <a:cs typeface="Times New Roman" panose="02020603050405020304" pitchFamily="18" charset="0"/>
              </a:rPr>
              <a:t>), автоматизация аналитических задач и формирование отчётов.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DC09184E-BE55-4BEC-955F-574B0AF1A3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86440" y="7746563"/>
            <a:ext cx="2343477" cy="388858"/>
          </a:xfrm>
          <a:prstGeom prst="rect">
            <a:avLst/>
          </a:prstGeom>
        </p:spPr>
      </p:pic>
      <p:sp>
        <p:nvSpPr>
          <p:cNvPr id="8" name="Text 0">
            <a:extLst>
              <a:ext uri="{FF2B5EF4-FFF2-40B4-BE49-F238E27FC236}">
                <a16:creationId xmlns:a16="http://schemas.microsoft.com/office/drawing/2014/main" id="{A93215EA-7DE0-1727-65AE-C44D9E1C6D7F}"/>
              </a:ext>
            </a:extLst>
          </p:cNvPr>
          <p:cNvSpPr/>
          <p:nvPr/>
        </p:nvSpPr>
        <p:spPr>
          <a:xfrm>
            <a:off x="425026" y="159012"/>
            <a:ext cx="11215431" cy="705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ru-RU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Noto Serif Medium" pitchFamily="34" charset="-122"/>
                <a:cs typeface="Times New Roman" panose="02020603050405020304" pitchFamily="18" charset="0"/>
              </a:rPr>
              <a:t>Разработка прототипа мультисервисного приложения для автоматизации внутренних бизнес-процессов для руководителей ВТБ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Noto Serif Medium" pitchFamily="34" charset="-122"/>
                <a:cs typeface="Times New Roman" panose="02020603050405020304" pitchFamily="18" charset="0"/>
              </a:rPr>
              <a:t> </a:t>
            </a:r>
            <a:endParaRPr lang="ru-RU" dirty="0">
              <a:solidFill>
                <a:schemeClr val="bg2">
                  <a:lumMod val="75000"/>
                </a:schemeClr>
              </a:solidFill>
              <a:latin typeface="Times New Roman" panose="02020603050405020304" pitchFamily="18" charset="0"/>
              <a:ea typeface="Noto Serif Medium" pitchFamily="34" charset="-122"/>
              <a:cs typeface="Times New Roman" panose="02020603050405020304" pitchFamily="18" charset="0"/>
            </a:endParaRPr>
          </a:p>
          <a:p>
            <a:pPr marL="0" indent="0" algn="l">
              <a:lnSpc>
                <a:spcPts val="2300"/>
              </a:lnSpc>
              <a:buNone/>
            </a:pPr>
            <a:r>
              <a:rPr lang="ru-RU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Noto Serif Medium" pitchFamily="34" charset="-122"/>
                <a:cs typeface="Times New Roman" panose="02020603050405020304" pitchFamily="18" charset="0"/>
              </a:rPr>
              <a:t>Студента ИТ-222 Ткаченко Д.В.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478BA3C2-D5E4-AB43-3ABE-6FC49C8584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02235" y="7722154"/>
            <a:ext cx="1928165" cy="478723"/>
          </a:xfrm>
          <a:prstGeom prst="rect">
            <a:avLst/>
          </a:prstGeom>
        </p:spPr>
      </p:pic>
      <p:sp>
        <p:nvSpPr>
          <p:cNvPr id="10" name="Text 1">
            <a:extLst>
              <a:ext uri="{FF2B5EF4-FFF2-40B4-BE49-F238E27FC236}">
                <a16:creationId xmlns:a16="http://schemas.microsoft.com/office/drawing/2014/main" id="{730D6110-6E64-CC1B-7EEB-6D73AF6882B0}"/>
              </a:ext>
            </a:extLst>
          </p:cNvPr>
          <p:cNvSpPr/>
          <p:nvPr/>
        </p:nvSpPr>
        <p:spPr>
          <a:xfrm>
            <a:off x="13030386" y="7797115"/>
            <a:ext cx="2011308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Слайд </a:t>
            </a:r>
            <a:fld id="{DC613CC5-E30D-4415-8AFF-C7A603C882D4}" type="slidenum">
              <a:rPr lang="ru-RU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fld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из 14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10080" y="711819"/>
            <a:ext cx="4970502" cy="40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3150"/>
              </a:lnSpc>
              <a:buNone/>
            </a:pPr>
            <a:r>
              <a:rPr lang="en-US" sz="2500" dirty="0">
                <a:solidFill>
                  <a:srgbClr val="3A3A3A"/>
                </a:solidFill>
                <a:latin typeface="Times New Roman" panose="02020603050405020304" pitchFamily="18" charset="0"/>
                <a:ea typeface="Noto Serif Medium" pitchFamily="34" charset="-122"/>
                <a:cs typeface="Times New Roman" panose="02020603050405020304" pitchFamily="18" charset="0"/>
              </a:rPr>
              <a:t>Микросервисная архитектура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49818" y="1370472"/>
            <a:ext cx="137307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1600"/>
              </a:lnSpc>
              <a:buNone/>
            </a:pPr>
            <a:r>
              <a:rPr lang="en-US" sz="1000" dirty="0">
                <a:solidFill>
                  <a:srgbClr val="4C4C4C"/>
                </a:solidFill>
                <a:latin typeface="Times New Roman" panose="02020603050405020304" pitchFamily="18" charset="0"/>
                <a:ea typeface="Noto Serif" pitchFamily="34" charset="-122"/>
                <a:cs typeface="Times New Roman" panose="02020603050405020304" pitchFamily="18" charset="0"/>
              </a:rPr>
              <a:t>Для разработки модуля автоматизации корпоративных такси мы используем современную микросервисную архитектуру. Такой подход обеспечивает высокую гибкость, масштабируемость и отказоустойчивость системы, позволяя независимую разработку, развертывание и масштабирование отдельных компонентов.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881" y="843116"/>
            <a:ext cx="12720637" cy="775942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61161" y="1788917"/>
            <a:ext cx="2899086" cy="3861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dirty="0">
                <a:solidFill>
                  <a:srgbClr val="4C4C4C"/>
                </a:solidFill>
                <a:latin typeface="Times New Roman" panose="02020603050405020304" pitchFamily="18" charset="0"/>
                <a:ea typeface="Noto Serif Medium" pitchFamily="34" charset="-122"/>
                <a:cs typeface="Times New Roman" panose="02020603050405020304" pitchFamily="18" charset="0"/>
              </a:rPr>
              <a:t>API Gateway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1261161" y="2284935"/>
            <a:ext cx="2899086" cy="1544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050" dirty="0">
                <a:solidFill>
                  <a:srgbClr val="4C4C4C"/>
                </a:solidFill>
                <a:latin typeface="Times New Roman" panose="02020603050405020304" pitchFamily="18" charset="0"/>
                <a:ea typeface="Noto Serif" pitchFamily="34" charset="-122"/>
                <a:cs typeface="Times New Roman" panose="02020603050405020304" pitchFamily="18" charset="0"/>
              </a:rPr>
              <a:t>Единая точка входа для всех запросов, маршрутизация и балансировка нагрузки.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3064867" y="5533569"/>
            <a:ext cx="2899086" cy="3861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 rtl="1">
              <a:lnSpc>
                <a:spcPts val="1650"/>
              </a:lnSpc>
              <a:buNone/>
            </a:pPr>
            <a:r>
              <a:rPr lang="en-US" sz="1350" dirty="0">
                <a:solidFill>
                  <a:srgbClr val="4C4C4C"/>
                </a:solidFill>
                <a:latin typeface="Times New Roman" panose="02020603050405020304" pitchFamily="18" charset="0"/>
                <a:ea typeface="Noto Serif Medium" pitchFamily="34" charset="-122"/>
                <a:cs typeface="Times New Roman" panose="02020603050405020304" pitchFamily="18" charset="0"/>
              </a:rPr>
              <a:t>Микросервисы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3064867" y="6029586"/>
            <a:ext cx="2899086" cy="2780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lnSpc>
                <a:spcPts val="1350"/>
              </a:lnSpc>
              <a:buNone/>
            </a:pPr>
            <a:r>
              <a:rPr lang="en-US" sz="1050" dirty="0">
                <a:solidFill>
                  <a:srgbClr val="4C4C4C"/>
                </a:solidFill>
                <a:latin typeface="Times New Roman" panose="02020603050405020304" pitchFamily="18" charset="0"/>
                <a:ea typeface="Noto Serif" pitchFamily="34" charset="-122"/>
                <a:cs typeface="Times New Roman" panose="02020603050405020304" pitchFamily="18" charset="0"/>
              </a:rPr>
              <a:t>Отдельные, независимо развертываемые сервисы для каждого модуля функциональности (напр., управление заказами, пользователи).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5762221" y="2081765"/>
            <a:ext cx="2993270" cy="772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lnSpc>
                <a:spcPts val="1650"/>
              </a:lnSpc>
              <a:buNone/>
            </a:pPr>
            <a:r>
              <a:rPr lang="en-US" sz="1350" dirty="0">
                <a:solidFill>
                  <a:srgbClr val="4C4C4C"/>
                </a:solidFill>
                <a:latin typeface="Times New Roman" panose="02020603050405020304" pitchFamily="18" charset="0"/>
                <a:ea typeface="Noto Serif Medium" pitchFamily="34" charset="-122"/>
                <a:cs typeface="Times New Roman" panose="02020603050405020304" pitchFamily="18" charset="0"/>
              </a:rPr>
              <a:t>Сервис аутентификации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5762221" y="2963955"/>
            <a:ext cx="2993270" cy="12357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lnSpc>
                <a:spcPts val="1350"/>
              </a:lnSpc>
              <a:buNone/>
            </a:pPr>
            <a:r>
              <a:rPr lang="en-US" sz="1050" dirty="0">
                <a:solidFill>
                  <a:srgbClr val="4C4C4C"/>
                </a:solidFill>
                <a:latin typeface="Times New Roman" panose="02020603050405020304" pitchFamily="18" charset="0"/>
                <a:ea typeface="Noto Serif" pitchFamily="34" charset="-122"/>
                <a:cs typeface="Times New Roman" panose="02020603050405020304" pitchFamily="18" charset="0"/>
              </a:rPr>
              <a:t>Централизованное управление доступом и безопасностью для всех сервисов.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7739113" y="6362600"/>
            <a:ext cx="2899087" cy="772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lnSpc>
                <a:spcPts val="1650"/>
              </a:lnSpc>
              <a:buNone/>
            </a:pPr>
            <a:r>
              <a:rPr lang="en-US" sz="1350" dirty="0">
                <a:solidFill>
                  <a:srgbClr val="4C4C4C"/>
                </a:solidFill>
                <a:latin typeface="Times New Roman" panose="02020603050405020304" pitchFamily="18" charset="0"/>
                <a:ea typeface="Noto Serif Medium" pitchFamily="34" charset="-122"/>
                <a:cs typeface="Times New Roman" panose="02020603050405020304" pitchFamily="18" charset="0"/>
              </a:rPr>
              <a:t>Общая база данных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7808228" y="6737031"/>
            <a:ext cx="2899087" cy="1853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lnSpc>
                <a:spcPts val="1350"/>
              </a:lnSpc>
              <a:buNone/>
            </a:pPr>
            <a:r>
              <a:rPr lang="en-US" sz="1050" dirty="0">
                <a:solidFill>
                  <a:srgbClr val="4C4C4C"/>
                </a:solidFill>
                <a:latin typeface="Times New Roman" panose="02020603050405020304" pitchFamily="18" charset="0"/>
                <a:ea typeface="Noto Serif" pitchFamily="34" charset="-122"/>
                <a:cs typeface="Times New Roman" panose="02020603050405020304" pitchFamily="18" charset="0"/>
              </a:rPr>
              <a:t>Хранение данных, доступное для микросервисов, с возможностью шардирования и репликации.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10345023" y="2349297"/>
            <a:ext cx="2899086" cy="3861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 rtl="1">
              <a:lnSpc>
                <a:spcPts val="1650"/>
              </a:lnSpc>
              <a:buNone/>
            </a:pPr>
            <a:r>
              <a:rPr lang="en-US" sz="1350" dirty="0">
                <a:solidFill>
                  <a:srgbClr val="4C4C4C"/>
                </a:solidFill>
                <a:latin typeface="Times New Roman" panose="02020603050405020304" pitchFamily="18" charset="0"/>
                <a:ea typeface="Noto Serif Medium" pitchFamily="34" charset="-122"/>
                <a:cs typeface="Times New Roman" panose="02020603050405020304" pitchFamily="18" charset="0"/>
              </a:rPr>
              <a:t>Контейнеризация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10345023" y="2845314"/>
            <a:ext cx="2899086" cy="2162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050" dirty="0">
                <a:solidFill>
                  <a:srgbClr val="4C4C4C"/>
                </a:solidFill>
                <a:latin typeface="Times New Roman" panose="02020603050405020304" pitchFamily="18" charset="0"/>
                <a:ea typeface="Noto Serif" pitchFamily="34" charset="-122"/>
                <a:cs typeface="Times New Roman" panose="02020603050405020304" pitchFamily="18" charset="0"/>
              </a:rPr>
              <a:t>Использование контейнеров (Docker) для изоляции, стандартизации и упрощения развертывания каждого сервиса.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449818" y="7303637"/>
            <a:ext cx="137307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1600"/>
              </a:lnSpc>
              <a:buNone/>
            </a:pPr>
            <a:r>
              <a:rPr lang="en-US" sz="1000" dirty="0">
                <a:solidFill>
                  <a:srgbClr val="4C4C4C"/>
                </a:solidFill>
                <a:latin typeface="Times New Roman" panose="02020603050405020304" pitchFamily="18" charset="0"/>
                <a:ea typeface="Noto Serif" pitchFamily="34" charset="-122"/>
                <a:cs typeface="Times New Roman" panose="02020603050405020304" pitchFamily="18" charset="0"/>
              </a:rPr>
              <a:t>Эта архитектура позволяет командам работать независимо, быстро внедрять новые функции, обеспечивать высокую доступность и упрощает масштабирование отдельных частей системы в соответствии с изменяющимися потребностями бизнеса.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">
            <a:extLst>
              <a:ext uri="{FF2B5EF4-FFF2-40B4-BE49-F238E27FC236}">
                <a16:creationId xmlns:a16="http://schemas.microsoft.com/office/drawing/2014/main" id="{F4D9AF3E-144A-DE75-1460-FDA5F31F2C08}"/>
              </a:ext>
            </a:extLst>
          </p:cNvPr>
          <p:cNvSpPr/>
          <p:nvPr/>
        </p:nvSpPr>
        <p:spPr>
          <a:xfrm>
            <a:off x="13030386" y="7797115"/>
            <a:ext cx="2011308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Слайд </a:t>
            </a:r>
            <a:fld id="{DC613CC5-E30D-4415-8AFF-C7A603C882D4}" type="slidenum">
              <a:rPr lang="ru-RU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fld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из 12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0">
            <a:extLst>
              <a:ext uri="{FF2B5EF4-FFF2-40B4-BE49-F238E27FC236}">
                <a16:creationId xmlns:a16="http://schemas.microsoft.com/office/drawing/2014/main" id="{5189DBA6-2DC9-B1C4-A8F9-99CC57D1EFB9}"/>
              </a:ext>
            </a:extLst>
          </p:cNvPr>
          <p:cNvSpPr/>
          <p:nvPr/>
        </p:nvSpPr>
        <p:spPr>
          <a:xfrm>
            <a:off x="425026" y="159012"/>
            <a:ext cx="11215431" cy="705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ru-RU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Noto Serif Medium" pitchFamily="34" charset="-122"/>
                <a:cs typeface="Times New Roman" panose="02020603050405020304" pitchFamily="18" charset="0"/>
              </a:rPr>
              <a:t>Разработка прототипа мультисервисного приложения для автоматизации внутренних бизнес-процессов для руководителей ВТБ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Noto Serif Medium" pitchFamily="34" charset="-122"/>
                <a:cs typeface="Times New Roman" panose="02020603050405020304" pitchFamily="18" charset="0"/>
              </a:rPr>
              <a:t> </a:t>
            </a:r>
            <a:endParaRPr lang="ru-RU" dirty="0">
              <a:solidFill>
                <a:schemeClr val="bg2">
                  <a:lumMod val="75000"/>
                </a:schemeClr>
              </a:solidFill>
              <a:latin typeface="Times New Roman" panose="02020603050405020304" pitchFamily="18" charset="0"/>
              <a:ea typeface="Noto Serif Medium" pitchFamily="34" charset="-122"/>
              <a:cs typeface="Times New Roman" panose="02020603050405020304" pitchFamily="18" charset="0"/>
            </a:endParaRPr>
          </a:p>
          <a:p>
            <a:pPr marL="0" indent="0" algn="l">
              <a:lnSpc>
                <a:spcPts val="2300"/>
              </a:lnSpc>
              <a:buNone/>
            </a:pPr>
            <a:r>
              <a:rPr lang="ru-RU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Noto Serif Medium" pitchFamily="34" charset="-122"/>
                <a:cs typeface="Times New Roman" panose="02020603050405020304" pitchFamily="18" charset="0"/>
              </a:rPr>
              <a:t>Студента ИТ-222 Ткаченко Д.В.</a:t>
            </a:r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30905589-445F-9828-2AA1-F56B4C0A46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02235" y="7695055"/>
            <a:ext cx="1928165" cy="478723"/>
          </a:xfrm>
          <a:prstGeom prst="rect">
            <a:avLst/>
          </a:prstGeom>
        </p:spPr>
      </p:pic>
      <p:sp>
        <p:nvSpPr>
          <p:cNvPr id="20" name="Text 1">
            <a:extLst>
              <a:ext uri="{FF2B5EF4-FFF2-40B4-BE49-F238E27FC236}">
                <a16:creationId xmlns:a16="http://schemas.microsoft.com/office/drawing/2014/main" id="{326851BC-28DF-038C-3759-DB5B5DC7C95C}"/>
              </a:ext>
            </a:extLst>
          </p:cNvPr>
          <p:cNvSpPr/>
          <p:nvPr/>
        </p:nvSpPr>
        <p:spPr>
          <a:xfrm>
            <a:off x="13030386" y="7770016"/>
            <a:ext cx="2011308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Слайд </a:t>
            </a:r>
            <a:fld id="{DC613CC5-E30D-4415-8AFF-C7A603C882D4}" type="slidenum">
              <a:rPr lang="ru-RU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fld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из 14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8709C05-DF9D-4D2D-934A-6F11912735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86440" y="7746563"/>
            <a:ext cx="2343477" cy="388858"/>
          </a:xfrm>
          <a:prstGeom prst="rect">
            <a:avLst/>
          </a:prstGeom>
        </p:spPr>
      </p:pic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466731"/>
            <a:ext cx="703957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A3A3A"/>
                </a:solidFill>
                <a:latin typeface="Times New Roman" panose="02020603050405020304" pitchFamily="18" charset="0"/>
                <a:ea typeface="Noto Serif Medium" pitchFamily="34" charset="-122"/>
                <a:cs typeface="Times New Roman" panose="02020603050405020304" pitchFamily="18" charset="0"/>
              </a:rPr>
              <a:t>Краткий обзор решения</a:t>
            </a:r>
            <a:endParaRPr lang="en-US" sz="4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793790" y="2515672"/>
            <a:ext cx="7556421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Times New Roman" panose="02020603050405020304" pitchFamily="18" charset="0"/>
                <a:ea typeface="Noto Serif" pitchFamily="34" charset="-122"/>
                <a:cs typeface="Times New Roman" panose="02020603050405020304" pitchFamily="18" charset="0"/>
              </a:rPr>
              <a:t>Наше инновационное мультисервисное приложение является единой платформой, объединяющей различные внутренние процессы банка ВТБ. Оно предназначено для радикального упрощения и автоматизации таких операций, как корпоративное такси, бронирование ресурсов, управление документооборотом и другие сервисы.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793790" y="4948238"/>
            <a:ext cx="7556421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Times New Roman" panose="02020603050405020304" pitchFamily="18" charset="0"/>
                <a:ea typeface="Noto Serif" pitchFamily="34" charset="-122"/>
                <a:cs typeface="Times New Roman" panose="02020603050405020304" pitchFamily="18" charset="0"/>
              </a:rPr>
              <a:t>Система автоматизирует рутинные задачи, снижает трудозатраты и исключает человеческие ошибки, обеспечивая точный учет и оптимизацию ресурсов. Это позволяет сотрудникам ВТБ сосредоточиться на стратегических задачах, повышая общую эффективность и производительность.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BF7C16E5-D28D-1D6D-1C06-17218478E9E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95569" y="6526341"/>
            <a:ext cx="4440471" cy="830332"/>
          </a:xfrm>
          <a:prstGeom prst="rect">
            <a:avLst/>
          </a:prstGeom>
        </p:spPr>
      </p:pic>
      <p:sp>
        <p:nvSpPr>
          <p:cNvPr id="8" name="Text 0">
            <a:extLst>
              <a:ext uri="{FF2B5EF4-FFF2-40B4-BE49-F238E27FC236}">
                <a16:creationId xmlns:a16="http://schemas.microsoft.com/office/drawing/2014/main" id="{C7068FC7-1E91-0888-FB13-4B64A3C2588A}"/>
              </a:ext>
            </a:extLst>
          </p:cNvPr>
          <p:cNvSpPr/>
          <p:nvPr/>
        </p:nvSpPr>
        <p:spPr>
          <a:xfrm>
            <a:off x="425026" y="159012"/>
            <a:ext cx="11215431" cy="705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ru-RU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Noto Serif Medium" pitchFamily="34" charset="-122"/>
                <a:cs typeface="Times New Roman" panose="02020603050405020304" pitchFamily="18" charset="0"/>
              </a:rPr>
              <a:t>Разработка прототипа мультисервисного приложения для автоматизации внутренних бизнес-процессов для руководителей ВТБ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Noto Serif Medium" pitchFamily="34" charset="-122"/>
                <a:cs typeface="Times New Roman" panose="02020603050405020304" pitchFamily="18" charset="0"/>
              </a:rPr>
              <a:t> </a:t>
            </a:r>
            <a:endParaRPr lang="ru-RU" dirty="0">
              <a:solidFill>
                <a:schemeClr val="bg2">
                  <a:lumMod val="75000"/>
                </a:schemeClr>
              </a:solidFill>
              <a:latin typeface="Times New Roman" panose="02020603050405020304" pitchFamily="18" charset="0"/>
              <a:ea typeface="Noto Serif Medium" pitchFamily="34" charset="-122"/>
              <a:cs typeface="Times New Roman" panose="02020603050405020304" pitchFamily="18" charset="0"/>
            </a:endParaRPr>
          </a:p>
          <a:p>
            <a:pPr marL="0" indent="0" algn="l">
              <a:lnSpc>
                <a:spcPts val="2300"/>
              </a:lnSpc>
              <a:buNone/>
            </a:pPr>
            <a:r>
              <a:rPr lang="ru-RU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Noto Serif Medium" pitchFamily="34" charset="-122"/>
                <a:cs typeface="Times New Roman" panose="02020603050405020304" pitchFamily="18" charset="0"/>
              </a:rPr>
              <a:t>Студента ИТ-222 Ткаченко Д.В.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71722AF1-B479-0FB3-CD2C-A64B5F9EE03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601752" y="7695055"/>
            <a:ext cx="1928165" cy="478723"/>
          </a:xfrm>
          <a:prstGeom prst="rect">
            <a:avLst/>
          </a:prstGeom>
        </p:spPr>
      </p:pic>
      <p:sp>
        <p:nvSpPr>
          <p:cNvPr id="11" name="Text 1">
            <a:extLst>
              <a:ext uri="{FF2B5EF4-FFF2-40B4-BE49-F238E27FC236}">
                <a16:creationId xmlns:a16="http://schemas.microsoft.com/office/drawing/2014/main" id="{41AE914F-DA54-BEA5-F523-65A54FE61D21}"/>
              </a:ext>
            </a:extLst>
          </p:cNvPr>
          <p:cNvSpPr/>
          <p:nvPr/>
        </p:nvSpPr>
        <p:spPr>
          <a:xfrm>
            <a:off x="12929903" y="7770016"/>
            <a:ext cx="2011308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Слайд </a:t>
            </a:r>
            <a:fld id="{DC613CC5-E30D-4415-8AFF-C7A603C882D4}" type="slidenum">
              <a:rPr lang="ru-RU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fld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из 14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5330" y="756047"/>
            <a:ext cx="5695950" cy="65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50"/>
              </a:lnSpc>
              <a:buNone/>
            </a:pPr>
            <a:r>
              <a:rPr lang="en-US" sz="4100" dirty="0">
                <a:solidFill>
                  <a:srgbClr val="3A3A3A"/>
                </a:solidFill>
                <a:latin typeface="Times New Roman" panose="02020603050405020304" pitchFamily="18" charset="0"/>
                <a:ea typeface="Noto Serif Medium" pitchFamily="34" charset="-122"/>
                <a:cs typeface="Times New Roman" panose="02020603050405020304" pitchFamily="18" charset="0"/>
              </a:rPr>
              <a:t>Цели автоматизации</a:t>
            </a:r>
            <a:endParaRPr lang="en-US" sz="4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35330" y="1832848"/>
            <a:ext cx="13159740" cy="672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4C4C4C"/>
                </a:solidFill>
                <a:latin typeface="Times New Roman" panose="02020603050405020304" pitchFamily="18" charset="0"/>
                <a:ea typeface="Noto Serif" pitchFamily="34" charset="-122"/>
                <a:cs typeface="Times New Roman" panose="02020603050405020304" pitchFamily="18" charset="0"/>
              </a:rPr>
              <a:t>Внедрение мультисервисного приложения преследует несколько ключевых целей, направленных на оптимизацию внутренних процессов и повышение общей эффективности банка.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35330" y="2741652"/>
            <a:ext cx="6474857" cy="1928693"/>
          </a:xfrm>
          <a:prstGeom prst="roundRect">
            <a:avLst>
              <a:gd name="adj" fmla="val 4575"/>
            </a:avLst>
          </a:prstGeom>
          <a:solidFill>
            <a:srgbClr val="FDFBF7"/>
          </a:solidFill>
          <a:ln w="22860">
            <a:solidFill>
              <a:srgbClr val="E6DED2"/>
            </a:solidFill>
            <a:prstDash val="solid"/>
          </a:ln>
          <a:effectLst>
            <a:outerShdw dist="19050" dir="2700000" algn="bl" rotWithShape="0">
              <a:srgbClr val="E6DED2">
                <a:alpha val="100000"/>
              </a:srgbClr>
            </a:outerShdw>
          </a:effectLst>
        </p:spPr>
        <p:txBody>
          <a:bodyPr/>
          <a:lstStyle/>
          <a:p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968216" y="2974538"/>
            <a:ext cx="5236250" cy="328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4C4C4C"/>
                </a:solidFill>
                <a:latin typeface="Times New Roman" panose="02020603050405020304" pitchFamily="18" charset="0"/>
                <a:ea typeface="Noto Serif Medium" pitchFamily="34" charset="-122"/>
                <a:cs typeface="Times New Roman" panose="02020603050405020304" pitchFamily="18" charset="0"/>
              </a:rPr>
              <a:t>Централизация внутренних процессов</a:t>
            </a:r>
            <a:endParaRPr lang="en-US" sz="2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968216" y="3428762"/>
            <a:ext cx="6009084" cy="1008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4C4C4C"/>
                </a:solidFill>
                <a:latin typeface="Times New Roman" panose="02020603050405020304" pitchFamily="18" charset="0"/>
                <a:ea typeface="Noto Serif" pitchFamily="34" charset="-122"/>
                <a:cs typeface="Times New Roman" panose="02020603050405020304" pitchFamily="18" charset="0"/>
              </a:rPr>
              <a:t>Объединение различных операций и функций на единой платформе для упрощения управления и улучшения координации между отделами.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420213" y="2741652"/>
            <a:ext cx="6474857" cy="1928693"/>
          </a:xfrm>
          <a:prstGeom prst="roundRect">
            <a:avLst>
              <a:gd name="adj" fmla="val 4575"/>
            </a:avLst>
          </a:prstGeom>
          <a:solidFill>
            <a:srgbClr val="FDFBF7"/>
          </a:solidFill>
          <a:ln w="22860">
            <a:solidFill>
              <a:srgbClr val="E6DED2"/>
            </a:solidFill>
            <a:prstDash val="solid"/>
          </a:ln>
          <a:effectLst>
            <a:outerShdw dist="19050" dir="2700000" algn="bl" rotWithShape="0">
              <a:srgbClr val="E6DED2">
                <a:alpha val="100000"/>
              </a:srgbClr>
            </a:outerShdw>
          </a:effectLst>
        </p:spPr>
        <p:txBody>
          <a:bodyPr/>
          <a:lstStyle/>
          <a:p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653099" y="2974538"/>
            <a:ext cx="5215057" cy="328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4C4C4C"/>
                </a:solidFill>
                <a:latin typeface="Times New Roman" panose="02020603050405020304" pitchFamily="18" charset="0"/>
                <a:ea typeface="Noto Serif Medium" pitchFamily="34" charset="-122"/>
                <a:cs typeface="Times New Roman" panose="02020603050405020304" pitchFamily="18" charset="0"/>
              </a:rPr>
              <a:t>Унификация пользовательского опыта</a:t>
            </a:r>
            <a:endParaRPr lang="en-US" sz="2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653099" y="3428762"/>
            <a:ext cx="6009084" cy="1008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4C4C4C"/>
                </a:solidFill>
                <a:latin typeface="Times New Roman" panose="02020603050405020304" pitchFamily="18" charset="0"/>
                <a:ea typeface="Noto Serif" pitchFamily="34" charset="-122"/>
                <a:cs typeface="Times New Roman" panose="02020603050405020304" pitchFamily="18" charset="0"/>
              </a:rPr>
              <a:t>Создание единого, интуитивно понятного интерфейса для всех сервисов, что облегчает адаптацию сотрудников и снижает кривую обучения.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35330" y="4880372"/>
            <a:ext cx="6474857" cy="2593181"/>
          </a:xfrm>
          <a:prstGeom prst="roundRect">
            <a:avLst>
              <a:gd name="adj" fmla="val 3403"/>
            </a:avLst>
          </a:prstGeom>
          <a:solidFill>
            <a:srgbClr val="FDFBF7"/>
          </a:solidFill>
          <a:ln w="22860">
            <a:solidFill>
              <a:srgbClr val="E6DED2"/>
            </a:solidFill>
            <a:prstDash val="solid"/>
          </a:ln>
          <a:effectLst>
            <a:outerShdw dist="19050" dir="2700000" algn="bl" rotWithShape="0">
              <a:srgbClr val="E6DED2">
                <a:alpha val="100000"/>
              </a:srgbClr>
            </a:outerShdw>
          </a:effectLst>
        </p:spPr>
        <p:txBody>
          <a:bodyPr/>
          <a:lstStyle/>
          <a:p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968216" y="5113258"/>
            <a:ext cx="6009084" cy="6565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4C4C4C"/>
                </a:solidFill>
                <a:latin typeface="Times New Roman" panose="02020603050405020304" pitchFamily="18" charset="0"/>
                <a:ea typeface="Noto Serif Medium" pitchFamily="34" charset="-122"/>
                <a:cs typeface="Times New Roman" panose="02020603050405020304" pitchFamily="18" charset="0"/>
              </a:rPr>
              <a:t>Сокращение времени на переключение между системами</a:t>
            </a:r>
            <a:endParaRPr lang="en-US" sz="2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968216" y="5895737"/>
            <a:ext cx="6009084" cy="1344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4C4C4C"/>
                </a:solidFill>
                <a:latin typeface="Times New Roman" panose="02020603050405020304" pitchFamily="18" charset="0"/>
                <a:ea typeface="Noto Serif" pitchFamily="34" charset="-122"/>
                <a:cs typeface="Times New Roman" panose="02020603050405020304" pitchFamily="18" charset="0"/>
              </a:rPr>
              <a:t>Минимизация необходимости переключаться между разрозненными приложениями, что значительно экономит время сотрудников и повышает их продуктивность.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7420213" y="4880372"/>
            <a:ext cx="6474857" cy="2593181"/>
          </a:xfrm>
          <a:prstGeom prst="roundRect">
            <a:avLst>
              <a:gd name="adj" fmla="val 3403"/>
            </a:avLst>
          </a:prstGeom>
          <a:solidFill>
            <a:srgbClr val="FDFBF7"/>
          </a:solidFill>
          <a:ln w="22860">
            <a:solidFill>
              <a:srgbClr val="E6DED2"/>
            </a:solidFill>
            <a:prstDash val="solid"/>
          </a:ln>
          <a:effectLst>
            <a:outerShdw dist="19050" dir="2700000" algn="bl" rotWithShape="0">
              <a:srgbClr val="E6DED2">
                <a:alpha val="100000"/>
              </a:srgbClr>
            </a:outerShdw>
          </a:effectLst>
        </p:spPr>
        <p:txBody>
          <a:bodyPr/>
          <a:lstStyle/>
          <a:p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653099" y="5113258"/>
            <a:ext cx="6009084" cy="6565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4C4C4C"/>
                </a:solidFill>
                <a:latin typeface="Times New Roman" panose="02020603050405020304" pitchFamily="18" charset="0"/>
                <a:ea typeface="Noto Serif Medium" pitchFamily="34" charset="-122"/>
                <a:cs typeface="Times New Roman" panose="02020603050405020304" pitchFamily="18" charset="0"/>
              </a:rPr>
              <a:t>Повышение эффективности через интеграцию сервисов</a:t>
            </a:r>
            <a:endParaRPr lang="en-US" sz="2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653099" y="5895737"/>
            <a:ext cx="6009084" cy="1344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4C4C4C"/>
                </a:solidFill>
                <a:latin typeface="Times New Roman" panose="02020603050405020304" pitchFamily="18" charset="0"/>
                <a:ea typeface="Noto Serif" pitchFamily="34" charset="-122"/>
                <a:cs typeface="Times New Roman" panose="02020603050405020304" pitchFamily="18" charset="0"/>
              </a:rPr>
              <a:t>Автоматизация и интеграция различных внутренних сервисов для оптимизации рабочих потоков, сокращения ручных операций и минимизации ошибок.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">
            <a:extLst>
              <a:ext uri="{FF2B5EF4-FFF2-40B4-BE49-F238E27FC236}">
                <a16:creationId xmlns:a16="http://schemas.microsoft.com/office/drawing/2014/main" id="{B3D2BA97-98A2-53FF-0A70-6ED0F111DA5B}"/>
              </a:ext>
            </a:extLst>
          </p:cNvPr>
          <p:cNvSpPr/>
          <p:nvPr/>
        </p:nvSpPr>
        <p:spPr>
          <a:xfrm>
            <a:off x="13030386" y="7797115"/>
            <a:ext cx="2011308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Слайд </a:t>
            </a:r>
            <a:fld id="{DC613CC5-E30D-4415-8AFF-C7A603C882D4}" type="slidenum">
              <a:rPr lang="ru-RU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fld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из 12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0">
            <a:extLst>
              <a:ext uri="{FF2B5EF4-FFF2-40B4-BE49-F238E27FC236}">
                <a16:creationId xmlns:a16="http://schemas.microsoft.com/office/drawing/2014/main" id="{204E65CD-D908-6DA6-34EE-6F40D64D07CA}"/>
              </a:ext>
            </a:extLst>
          </p:cNvPr>
          <p:cNvSpPr/>
          <p:nvPr/>
        </p:nvSpPr>
        <p:spPr>
          <a:xfrm>
            <a:off x="425026" y="159012"/>
            <a:ext cx="11215431" cy="705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ru-RU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Noto Serif Medium" pitchFamily="34" charset="-122"/>
                <a:cs typeface="Times New Roman" panose="02020603050405020304" pitchFamily="18" charset="0"/>
              </a:rPr>
              <a:t>Разработка прототипа мультисервисного приложения для автоматизации внутренних бизнес-процессов для руководителей ВТБ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Noto Serif Medium" pitchFamily="34" charset="-122"/>
                <a:cs typeface="Times New Roman" panose="02020603050405020304" pitchFamily="18" charset="0"/>
              </a:rPr>
              <a:t> </a:t>
            </a:r>
            <a:endParaRPr lang="ru-RU" dirty="0">
              <a:solidFill>
                <a:schemeClr val="bg2">
                  <a:lumMod val="75000"/>
                </a:schemeClr>
              </a:solidFill>
              <a:latin typeface="Times New Roman" panose="02020603050405020304" pitchFamily="18" charset="0"/>
              <a:ea typeface="Noto Serif Medium" pitchFamily="34" charset="-122"/>
              <a:cs typeface="Times New Roman" panose="02020603050405020304" pitchFamily="18" charset="0"/>
            </a:endParaRPr>
          </a:p>
          <a:p>
            <a:pPr marL="0" indent="0" algn="l">
              <a:lnSpc>
                <a:spcPts val="2300"/>
              </a:lnSpc>
              <a:buNone/>
            </a:pPr>
            <a:r>
              <a:rPr lang="ru-RU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Noto Serif Medium" pitchFamily="34" charset="-122"/>
                <a:cs typeface="Times New Roman" panose="02020603050405020304" pitchFamily="18" charset="0"/>
              </a:rPr>
              <a:t>Студента ИТ-222 Ткаченко Д.В.</a:t>
            </a:r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FEC8B00A-0452-1427-1E93-5BCC27137D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2235" y="7695055"/>
            <a:ext cx="1928165" cy="478723"/>
          </a:xfrm>
          <a:prstGeom prst="rect">
            <a:avLst/>
          </a:prstGeom>
        </p:spPr>
      </p:pic>
      <p:sp>
        <p:nvSpPr>
          <p:cNvPr id="20" name="Text 1">
            <a:extLst>
              <a:ext uri="{FF2B5EF4-FFF2-40B4-BE49-F238E27FC236}">
                <a16:creationId xmlns:a16="http://schemas.microsoft.com/office/drawing/2014/main" id="{E1B88D43-E612-77D4-7A32-73364BBA7566}"/>
              </a:ext>
            </a:extLst>
          </p:cNvPr>
          <p:cNvSpPr/>
          <p:nvPr/>
        </p:nvSpPr>
        <p:spPr>
          <a:xfrm>
            <a:off x="13030386" y="7770016"/>
            <a:ext cx="2011308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Слайд </a:t>
            </a:r>
            <a:fld id="{DC613CC5-E30D-4415-8AFF-C7A603C882D4}" type="slidenum">
              <a:rPr lang="ru-RU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fld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из 14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324" y="538401"/>
            <a:ext cx="8249483" cy="611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50" dirty="0">
                <a:solidFill>
                  <a:srgbClr val="3A3A3A"/>
                </a:solidFill>
                <a:latin typeface="Times New Roman" panose="02020603050405020304" pitchFamily="18" charset="0"/>
                <a:ea typeface="Noto Serif Medium" pitchFamily="34" charset="-122"/>
                <a:cs typeface="Times New Roman" panose="02020603050405020304" pitchFamily="18" charset="0"/>
              </a:rPr>
              <a:t>Ключевые особенности решения</a:t>
            </a:r>
            <a:endParaRPr lang="en-US" sz="3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85324" y="1541740"/>
            <a:ext cx="13259753" cy="6267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4C4C4C"/>
                </a:solidFill>
                <a:latin typeface="Times New Roman" panose="02020603050405020304" pitchFamily="18" charset="0"/>
                <a:ea typeface="Noto Serif" pitchFamily="34" charset="-122"/>
                <a:cs typeface="Times New Roman" panose="02020603050405020304" pitchFamily="18" charset="0"/>
              </a:rPr>
              <a:t>Наше решение включает в себя фундаментальные элементы, которые обеспечивают безопасность, эффективность и удобство использования.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85324" y="2388751"/>
            <a:ext cx="6532007" cy="2866668"/>
          </a:xfrm>
          <a:prstGeom prst="roundRect">
            <a:avLst>
              <a:gd name="adj" fmla="val 2869"/>
            </a:avLst>
          </a:prstGeom>
          <a:solidFill>
            <a:srgbClr val="F2EDE5"/>
          </a:solidFill>
          <a:ln w="7620">
            <a:solidFill>
              <a:srgbClr val="E6DED2"/>
            </a:solidFill>
            <a:prstDash val="solid"/>
          </a:ln>
          <a:effectLst>
            <a:outerShdw dist="17780" dir="2700000" algn="bl" rotWithShape="0">
              <a:srgbClr val="E6DED2">
                <a:alpha val="100000"/>
              </a:srgbClr>
            </a:outerShdw>
          </a:effectLst>
        </p:spPr>
        <p:txBody>
          <a:bodyPr/>
          <a:lstStyle/>
          <a:p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88683" y="2592110"/>
            <a:ext cx="587335" cy="587335"/>
          </a:xfrm>
          <a:prstGeom prst="roundRect">
            <a:avLst>
              <a:gd name="adj" fmla="val 15567071"/>
            </a:avLst>
          </a:prstGeom>
          <a:solidFill>
            <a:srgbClr val="E6DED2"/>
          </a:solidFill>
          <a:ln/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🎯</a:t>
            </a:r>
          </a:p>
        </p:txBody>
      </p:sp>
      <p:sp>
        <p:nvSpPr>
          <p:cNvPr id="6" name="Text 4"/>
          <p:cNvSpPr/>
          <p:nvPr/>
        </p:nvSpPr>
        <p:spPr>
          <a:xfrm>
            <a:off x="888683" y="3375184"/>
            <a:ext cx="4388287" cy="305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4C4C4C"/>
                </a:solidFill>
                <a:latin typeface="Times New Roman" panose="02020603050405020304" pitchFamily="18" charset="0"/>
                <a:ea typeface="Noto Serif Medium" pitchFamily="34" charset="-122"/>
                <a:cs typeface="Times New Roman" panose="02020603050405020304" pitchFamily="18" charset="0"/>
              </a:rPr>
              <a:t>Модульность и масштабируемость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888683" y="3798570"/>
            <a:ext cx="6125289" cy="1253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4C4C4C"/>
                </a:solidFill>
                <a:latin typeface="Times New Roman" panose="02020603050405020304" pitchFamily="18" charset="0"/>
                <a:ea typeface="Noto Serif" pitchFamily="34" charset="-122"/>
                <a:cs typeface="Times New Roman" panose="02020603050405020304" pitchFamily="18" charset="0"/>
              </a:rPr>
              <a:t>Архитектура решения позволяет легко добавлять новые функциональные модули и масштабировать систему в соответствии с растущими потребностями банка, обеспечивая гибкость и адаптивность.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413069" y="2388751"/>
            <a:ext cx="6532007" cy="2866668"/>
          </a:xfrm>
          <a:prstGeom prst="roundRect">
            <a:avLst>
              <a:gd name="adj" fmla="val 2869"/>
            </a:avLst>
          </a:prstGeom>
          <a:solidFill>
            <a:srgbClr val="F2EDE5"/>
          </a:solidFill>
          <a:ln w="7620">
            <a:solidFill>
              <a:srgbClr val="E6DED2"/>
            </a:solidFill>
            <a:prstDash val="solid"/>
          </a:ln>
          <a:effectLst>
            <a:outerShdw dist="17780" dir="2700000" algn="bl" rotWithShape="0">
              <a:srgbClr val="E6DED2">
                <a:alpha val="100000"/>
              </a:srgbClr>
            </a:outerShdw>
          </a:effectLst>
        </p:spPr>
        <p:txBody>
          <a:bodyPr/>
          <a:lstStyle/>
          <a:p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616428" y="2592110"/>
            <a:ext cx="587335" cy="587335"/>
          </a:xfrm>
          <a:prstGeom prst="roundRect">
            <a:avLst>
              <a:gd name="adj" fmla="val 15567071"/>
            </a:avLst>
          </a:prstGeom>
          <a:solidFill>
            <a:srgbClr val="E6DED2"/>
          </a:solidFill>
          <a:ln/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🎯</a:t>
            </a:r>
          </a:p>
        </p:txBody>
      </p:sp>
      <p:sp>
        <p:nvSpPr>
          <p:cNvPr id="10" name="Text 8"/>
          <p:cNvSpPr/>
          <p:nvPr/>
        </p:nvSpPr>
        <p:spPr>
          <a:xfrm>
            <a:off x="7616428" y="3375184"/>
            <a:ext cx="4718804" cy="305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4C4C4C"/>
                </a:solidFill>
                <a:latin typeface="Times New Roman" panose="02020603050405020304" pitchFamily="18" charset="0"/>
                <a:ea typeface="Noto Serif Medium" pitchFamily="34" charset="-122"/>
                <a:cs typeface="Times New Roman" panose="02020603050405020304" pitchFamily="18" charset="0"/>
              </a:rPr>
              <a:t>Единый интерфейс для всех сервисов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616428" y="3798570"/>
            <a:ext cx="6125289" cy="1253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4C4C4C"/>
                </a:solidFill>
                <a:latin typeface="Times New Roman" panose="02020603050405020304" pitchFamily="18" charset="0"/>
                <a:ea typeface="Noto Serif" pitchFamily="34" charset="-122"/>
                <a:cs typeface="Times New Roman" panose="02020603050405020304" pitchFamily="18" charset="0"/>
              </a:rPr>
              <a:t>Предоставление сотрудникам унифицированного и интуитивно понятного пользовательского интерфейса, который обеспечивает бесшовный доступ ко всем интегрированным сервисам и функциям, упрощая работу.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85324" y="5451158"/>
            <a:ext cx="13259753" cy="2239923"/>
          </a:xfrm>
          <a:prstGeom prst="roundRect">
            <a:avLst>
              <a:gd name="adj" fmla="val 3672"/>
            </a:avLst>
          </a:prstGeom>
          <a:solidFill>
            <a:srgbClr val="F2EDE5"/>
          </a:solidFill>
          <a:ln w="7620">
            <a:solidFill>
              <a:srgbClr val="E6DED2"/>
            </a:solidFill>
            <a:prstDash val="solid"/>
          </a:ln>
          <a:effectLst>
            <a:outerShdw dist="17780" dir="2700000" algn="bl" rotWithShape="0">
              <a:srgbClr val="E6DED2">
                <a:alpha val="100000"/>
              </a:srgbClr>
            </a:outerShdw>
          </a:effectLst>
        </p:spPr>
        <p:txBody>
          <a:bodyPr/>
          <a:lstStyle/>
          <a:p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88683" y="5654516"/>
            <a:ext cx="587335" cy="587335"/>
          </a:xfrm>
          <a:prstGeom prst="roundRect">
            <a:avLst>
              <a:gd name="adj" fmla="val 15567071"/>
            </a:avLst>
          </a:prstGeom>
          <a:solidFill>
            <a:srgbClr val="E6DED2"/>
          </a:solidFill>
          <a:ln/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🎯</a:t>
            </a:r>
          </a:p>
        </p:txBody>
      </p:sp>
      <p:sp>
        <p:nvSpPr>
          <p:cNvPr id="14" name="Text 12"/>
          <p:cNvSpPr/>
          <p:nvPr/>
        </p:nvSpPr>
        <p:spPr>
          <a:xfrm>
            <a:off x="888683" y="6437590"/>
            <a:ext cx="7146012" cy="305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4C4C4C"/>
                </a:solidFill>
                <a:latin typeface="Times New Roman" panose="02020603050405020304" pitchFamily="18" charset="0"/>
                <a:ea typeface="Noto Serif Medium" pitchFamily="34" charset="-122"/>
                <a:cs typeface="Times New Roman" panose="02020603050405020304" pitchFamily="18" charset="0"/>
              </a:rPr>
              <a:t>Централизованная система безопасности и авторизации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88683" y="6860977"/>
            <a:ext cx="12853035" cy="6267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4C4C4C"/>
                </a:solidFill>
                <a:latin typeface="Times New Roman" panose="02020603050405020304" pitchFamily="18" charset="0"/>
                <a:ea typeface="Noto Serif" pitchFamily="34" charset="-122"/>
                <a:cs typeface="Times New Roman" panose="02020603050405020304" pitchFamily="18" charset="0"/>
              </a:rPr>
              <a:t>Комплексная система безопасности и авторизации обеспечивает строгий контроль доступа, защиту данных и управление пользовательскими правами из единого центра, минимизируя риски.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">
            <a:extLst>
              <a:ext uri="{FF2B5EF4-FFF2-40B4-BE49-F238E27FC236}">
                <a16:creationId xmlns:a16="http://schemas.microsoft.com/office/drawing/2014/main" id="{6E9959E6-17BF-4ABE-7E07-F8E1CF8CAF4A}"/>
              </a:ext>
            </a:extLst>
          </p:cNvPr>
          <p:cNvSpPr/>
          <p:nvPr/>
        </p:nvSpPr>
        <p:spPr>
          <a:xfrm>
            <a:off x="13030386" y="7797115"/>
            <a:ext cx="2011308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Слайд </a:t>
            </a:r>
            <a:fld id="{DC613CC5-E30D-4415-8AFF-C7A603C882D4}" type="slidenum">
              <a:rPr lang="ru-RU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fld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из 12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C83E925B-E103-CEC2-908A-CC2444AAA2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2235" y="7733239"/>
            <a:ext cx="1928165" cy="478723"/>
          </a:xfrm>
          <a:prstGeom prst="rect">
            <a:avLst/>
          </a:prstGeom>
        </p:spPr>
      </p:pic>
      <p:sp>
        <p:nvSpPr>
          <p:cNvPr id="19" name="Text 1">
            <a:extLst>
              <a:ext uri="{FF2B5EF4-FFF2-40B4-BE49-F238E27FC236}">
                <a16:creationId xmlns:a16="http://schemas.microsoft.com/office/drawing/2014/main" id="{35F86489-96F6-DE02-6BCC-12BC304700B9}"/>
              </a:ext>
            </a:extLst>
          </p:cNvPr>
          <p:cNvSpPr/>
          <p:nvPr/>
        </p:nvSpPr>
        <p:spPr>
          <a:xfrm>
            <a:off x="13030386" y="7808200"/>
            <a:ext cx="2011308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Слайд </a:t>
            </a:r>
            <a:fld id="{DC613CC5-E30D-4415-8AFF-C7A603C882D4}" type="slidenum">
              <a:rPr lang="ru-RU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fld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из 14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AD5144E1-ACEF-4AB9-9C12-946E8E96B2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86440" y="7746563"/>
            <a:ext cx="2343477" cy="388858"/>
          </a:xfrm>
          <a:prstGeom prst="rect">
            <a:avLst/>
          </a:prstGeom>
        </p:spPr>
      </p:pic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5026" y="709970"/>
            <a:ext cx="4040624" cy="421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3A3A3A"/>
                </a:solidFill>
                <a:latin typeface="Times New Roman" panose="02020603050405020304" pitchFamily="18" charset="0"/>
                <a:ea typeface="Noto Serif Medium" pitchFamily="34" charset="-122"/>
                <a:cs typeface="Times New Roman" panose="02020603050405020304" pitchFamily="18" charset="0"/>
              </a:rPr>
              <a:t>Преимущества для ВТБ</a:t>
            </a:r>
            <a:endParaRPr lang="en-US" sz="2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425026" y="1314212"/>
            <a:ext cx="8201025" cy="430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4C4C4C"/>
                </a:solidFill>
                <a:latin typeface="Times New Roman" panose="02020603050405020304" pitchFamily="18" charset="0"/>
                <a:ea typeface="Noto Serif" pitchFamily="34" charset="-122"/>
                <a:cs typeface="Times New Roman" panose="02020603050405020304" pitchFamily="18" charset="0"/>
              </a:rPr>
              <a:t>Внедрение мультисервисного приложения принесет банку ВТБ ощутимые выгоды, трансформируя повседневные процессы и повышая общую эффективность.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425026" y="2098477"/>
            <a:ext cx="8201025" cy="1208484"/>
          </a:xfrm>
          <a:prstGeom prst="roundRect">
            <a:avLst>
              <a:gd name="adj" fmla="val 6053"/>
            </a:avLst>
          </a:prstGeom>
          <a:solidFill>
            <a:srgbClr val="FDFBF7"/>
          </a:solidFill>
          <a:ln/>
          <a:effectLst>
            <a:outerShdw dist="11430" dir="2700000" algn="bl" rotWithShape="0">
              <a:srgbClr val="E6DED2">
                <a:alpha val="100000"/>
              </a:srgbClr>
            </a:outerShdw>
          </a:effectLst>
        </p:spPr>
        <p:txBody>
          <a:bodyPr/>
          <a:lstStyle/>
          <a:p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425026" y="2083237"/>
            <a:ext cx="8201025" cy="60960"/>
          </a:xfrm>
          <a:prstGeom prst="roundRect">
            <a:avLst>
              <a:gd name="adj" fmla="val 92818"/>
            </a:avLst>
          </a:prstGeom>
          <a:solidFill>
            <a:srgbClr val="E6DED2"/>
          </a:solidFill>
          <a:ln/>
        </p:spPr>
        <p:txBody>
          <a:bodyPr/>
          <a:lstStyle/>
          <a:p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4323489" y="1896427"/>
            <a:ext cx="404098" cy="404098"/>
          </a:xfrm>
          <a:prstGeom prst="roundRect">
            <a:avLst>
              <a:gd name="adj" fmla="val 226282"/>
            </a:avLst>
          </a:prstGeom>
          <a:solidFill>
            <a:srgbClr val="E6DED2">
              <a:alpha val="50000"/>
            </a:srgbClr>
          </a:solidFill>
          <a:ln/>
        </p:spPr>
        <p:txBody>
          <a:bodyPr/>
          <a:lstStyle/>
          <a:p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574925" y="2435185"/>
            <a:ext cx="1897023" cy="210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4C4C4C"/>
                </a:solidFill>
                <a:latin typeface="Times New Roman" panose="02020603050405020304" pitchFamily="18" charset="0"/>
                <a:ea typeface="Noto Serif Medium" pitchFamily="34" charset="-122"/>
                <a:cs typeface="Times New Roman" panose="02020603050405020304" pitchFamily="18" charset="0"/>
              </a:rPr>
              <a:t>Единая точка доступа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574925" y="2726293"/>
            <a:ext cx="7901226" cy="430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4C4C4C"/>
                </a:solidFill>
                <a:latin typeface="Times New Roman" panose="02020603050405020304" pitchFamily="18" charset="0"/>
                <a:ea typeface="Noto Serif" pitchFamily="34" charset="-122"/>
                <a:cs typeface="Times New Roman" panose="02020603050405020304" pitchFamily="18" charset="0"/>
              </a:rPr>
              <a:t>Консолидация всех внутренних сервисов в одном приложении упрощает навигацию и доступ, устраняя необходимость переключаться между разными платформами.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425026" y="3643670"/>
            <a:ext cx="8201025" cy="1208484"/>
          </a:xfrm>
          <a:prstGeom prst="roundRect">
            <a:avLst>
              <a:gd name="adj" fmla="val 6053"/>
            </a:avLst>
          </a:prstGeom>
          <a:solidFill>
            <a:srgbClr val="FDFBF7"/>
          </a:solidFill>
          <a:ln/>
          <a:effectLst>
            <a:outerShdw dist="11430" dir="2700000" algn="bl" rotWithShape="0">
              <a:srgbClr val="E6DED2">
                <a:alpha val="100000"/>
              </a:srgbClr>
            </a:outerShdw>
          </a:effectLst>
        </p:spPr>
        <p:txBody>
          <a:bodyPr/>
          <a:lstStyle/>
          <a:p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425026" y="3628430"/>
            <a:ext cx="8201025" cy="60960"/>
          </a:xfrm>
          <a:prstGeom prst="roundRect">
            <a:avLst>
              <a:gd name="adj" fmla="val 92818"/>
            </a:avLst>
          </a:prstGeom>
          <a:solidFill>
            <a:srgbClr val="E6DED2"/>
          </a:solidFill>
          <a:ln/>
        </p:spPr>
        <p:txBody>
          <a:bodyPr/>
          <a:lstStyle/>
          <a:p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4323489" y="3441621"/>
            <a:ext cx="404098" cy="404098"/>
          </a:xfrm>
          <a:prstGeom prst="roundRect">
            <a:avLst>
              <a:gd name="adj" fmla="val 226282"/>
            </a:avLst>
          </a:prstGeom>
          <a:solidFill>
            <a:srgbClr val="E6DED2">
              <a:alpha val="50000"/>
            </a:srgbClr>
          </a:solidFill>
          <a:ln/>
        </p:spPr>
        <p:txBody>
          <a:bodyPr/>
          <a:lstStyle/>
          <a:p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574925" y="3980378"/>
            <a:ext cx="2735699" cy="210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4C4C4C"/>
                </a:solidFill>
                <a:latin typeface="Times New Roman" panose="02020603050405020304" pitchFamily="18" charset="0"/>
                <a:ea typeface="Noto Serif Medium" pitchFamily="34" charset="-122"/>
                <a:cs typeface="Times New Roman" panose="02020603050405020304" pitchFamily="18" charset="0"/>
              </a:rPr>
              <a:t>Сокращение времени обучения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574925" y="4271486"/>
            <a:ext cx="7901226" cy="430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4C4C4C"/>
                </a:solidFill>
                <a:latin typeface="Times New Roman" panose="02020603050405020304" pitchFamily="18" charset="0"/>
                <a:ea typeface="Noto Serif" pitchFamily="34" charset="-122"/>
                <a:cs typeface="Times New Roman" panose="02020603050405020304" pitchFamily="18" charset="0"/>
              </a:rPr>
              <a:t>Интуитивно понятный интерфейс и унифицированные процессы значительно уменьшают время, необходимое для обучения новых и существующих сотрудников работе с внутренними системами.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425026" y="5188863"/>
            <a:ext cx="8201025" cy="1208484"/>
          </a:xfrm>
          <a:prstGeom prst="roundRect">
            <a:avLst>
              <a:gd name="adj" fmla="val 6053"/>
            </a:avLst>
          </a:prstGeom>
          <a:solidFill>
            <a:srgbClr val="FDFBF7"/>
          </a:solidFill>
          <a:ln/>
          <a:effectLst>
            <a:outerShdw dist="11430" dir="2700000" algn="bl" rotWithShape="0">
              <a:srgbClr val="E6DED2">
                <a:alpha val="100000"/>
              </a:srgbClr>
            </a:outerShdw>
          </a:effectLst>
        </p:spPr>
        <p:txBody>
          <a:bodyPr/>
          <a:lstStyle/>
          <a:p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425026" y="5173623"/>
            <a:ext cx="8201025" cy="60960"/>
          </a:xfrm>
          <a:prstGeom prst="roundRect">
            <a:avLst>
              <a:gd name="adj" fmla="val 92818"/>
            </a:avLst>
          </a:prstGeom>
          <a:solidFill>
            <a:srgbClr val="E6DED2"/>
          </a:solidFill>
          <a:ln/>
        </p:spPr>
        <p:txBody>
          <a:bodyPr/>
          <a:lstStyle/>
          <a:p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4323489" y="4986814"/>
            <a:ext cx="404098" cy="404098"/>
          </a:xfrm>
          <a:prstGeom prst="roundRect">
            <a:avLst>
              <a:gd name="adj" fmla="val 226282"/>
            </a:avLst>
          </a:prstGeom>
          <a:solidFill>
            <a:srgbClr val="E6DED2">
              <a:alpha val="50000"/>
            </a:srgbClr>
          </a:solidFill>
          <a:ln/>
        </p:spPr>
        <p:txBody>
          <a:bodyPr/>
          <a:lstStyle/>
          <a:p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574925" y="5525572"/>
            <a:ext cx="2612112" cy="210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4C4C4C"/>
                </a:solidFill>
                <a:latin typeface="Times New Roman" panose="02020603050405020304" pitchFamily="18" charset="0"/>
                <a:ea typeface="Noto Serif Medium" pitchFamily="34" charset="-122"/>
                <a:cs typeface="Times New Roman" panose="02020603050405020304" pitchFamily="18" charset="0"/>
              </a:rPr>
              <a:t>Централизованная аналитика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574925" y="5816679"/>
            <a:ext cx="7901226" cy="430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4C4C4C"/>
                </a:solidFill>
                <a:latin typeface="Times New Roman" panose="02020603050405020304" pitchFamily="18" charset="0"/>
                <a:ea typeface="Noto Serif" pitchFamily="34" charset="-122"/>
                <a:cs typeface="Times New Roman" panose="02020603050405020304" pitchFamily="18" charset="0"/>
              </a:rPr>
              <a:t>Сбор и обработка данных из всех сервисов в единой системе обеспечивает глубокий анализ и формирование комплексных отчетов, улучшая принятие решений.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425026" y="6734056"/>
            <a:ext cx="8201025" cy="1208484"/>
          </a:xfrm>
          <a:prstGeom prst="roundRect">
            <a:avLst>
              <a:gd name="adj" fmla="val 6053"/>
            </a:avLst>
          </a:prstGeom>
          <a:solidFill>
            <a:srgbClr val="FDFBF7"/>
          </a:solidFill>
          <a:ln/>
          <a:effectLst>
            <a:outerShdw dist="11430" dir="2700000" algn="bl" rotWithShape="0">
              <a:srgbClr val="E6DED2">
                <a:alpha val="100000"/>
              </a:srgbClr>
            </a:outerShdw>
          </a:effectLst>
        </p:spPr>
        <p:txBody>
          <a:bodyPr/>
          <a:lstStyle/>
          <a:p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425026" y="6718816"/>
            <a:ext cx="8201025" cy="60960"/>
          </a:xfrm>
          <a:prstGeom prst="roundRect">
            <a:avLst>
              <a:gd name="adj" fmla="val 92818"/>
            </a:avLst>
          </a:prstGeom>
          <a:solidFill>
            <a:srgbClr val="E6DED2"/>
          </a:solidFill>
          <a:ln/>
        </p:spPr>
        <p:txBody>
          <a:bodyPr/>
          <a:lstStyle/>
          <a:p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4323489" y="6532007"/>
            <a:ext cx="404098" cy="404098"/>
          </a:xfrm>
          <a:prstGeom prst="roundRect">
            <a:avLst>
              <a:gd name="adj" fmla="val 226282"/>
            </a:avLst>
          </a:prstGeom>
          <a:solidFill>
            <a:srgbClr val="E6DED2">
              <a:alpha val="50000"/>
            </a:srgbClr>
          </a:solidFill>
          <a:ln/>
        </p:spPr>
        <p:txBody>
          <a:bodyPr/>
          <a:lstStyle/>
          <a:p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574925" y="7070765"/>
            <a:ext cx="3187065" cy="210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4C4C4C"/>
                </a:solidFill>
                <a:latin typeface="Times New Roman" panose="02020603050405020304" pitchFamily="18" charset="0"/>
                <a:ea typeface="Noto Serif Medium" pitchFamily="34" charset="-122"/>
                <a:cs typeface="Times New Roman" panose="02020603050405020304" pitchFamily="18" charset="0"/>
              </a:rPr>
              <a:t>Снижение эксплуатационных затрат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574925" y="7361872"/>
            <a:ext cx="7901226" cy="430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4C4C4C"/>
                </a:solidFill>
                <a:latin typeface="Times New Roman" panose="02020603050405020304" pitchFamily="18" charset="0"/>
                <a:ea typeface="Noto Serif" pitchFamily="34" charset="-122"/>
                <a:cs typeface="Times New Roman" panose="02020603050405020304" pitchFamily="18" charset="0"/>
              </a:rPr>
              <a:t>Устранение необходимости поддержки и обновления многочисленных разрозненных систем приводит к значительной экономии операционных расходов.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1">
            <a:extLst>
              <a:ext uri="{FF2B5EF4-FFF2-40B4-BE49-F238E27FC236}">
                <a16:creationId xmlns:a16="http://schemas.microsoft.com/office/drawing/2014/main" id="{72D144A8-FD31-E175-3793-90F6345433B0}"/>
              </a:ext>
            </a:extLst>
          </p:cNvPr>
          <p:cNvSpPr/>
          <p:nvPr/>
        </p:nvSpPr>
        <p:spPr>
          <a:xfrm>
            <a:off x="13030386" y="7797115"/>
            <a:ext cx="2011308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Слайд </a:t>
            </a:r>
            <a:fld id="{DC613CC5-E30D-4415-8AFF-C7A603C882D4}" type="slidenum">
              <a:rPr lang="ru-RU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fld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из 12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0">
            <a:extLst>
              <a:ext uri="{FF2B5EF4-FFF2-40B4-BE49-F238E27FC236}">
                <a16:creationId xmlns:a16="http://schemas.microsoft.com/office/drawing/2014/main" id="{751CC1AD-77C0-0548-73DB-A6282D694EED}"/>
              </a:ext>
            </a:extLst>
          </p:cNvPr>
          <p:cNvSpPr/>
          <p:nvPr/>
        </p:nvSpPr>
        <p:spPr>
          <a:xfrm>
            <a:off x="425026" y="159012"/>
            <a:ext cx="11215431" cy="705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ru-RU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Noto Serif Medium" pitchFamily="34" charset="-122"/>
                <a:cs typeface="Times New Roman" panose="02020603050405020304" pitchFamily="18" charset="0"/>
              </a:rPr>
              <a:t>Разработка прототипа мультисервисного приложения для автоматизации внутренних бизнес-процессов для руководителей ВТБ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Noto Serif Medium" pitchFamily="34" charset="-122"/>
                <a:cs typeface="Times New Roman" panose="02020603050405020304" pitchFamily="18" charset="0"/>
              </a:rPr>
              <a:t> </a:t>
            </a:r>
            <a:endParaRPr lang="ru-RU" dirty="0">
              <a:solidFill>
                <a:schemeClr val="bg2">
                  <a:lumMod val="75000"/>
                </a:schemeClr>
              </a:solidFill>
              <a:latin typeface="Times New Roman" panose="02020603050405020304" pitchFamily="18" charset="0"/>
              <a:ea typeface="Noto Serif Medium" pitchFamily="34" charset="-122"/>
              <a:cs typeface="Times New Roman" panose="02020603050405020304" pitchFamily="18" charset="0"/>
            </a:endParaRPr>
          </a:p>
          <a:p>
            <a:pPr marL="0" indent="0" algn="l">
              <a:lnSpc>
                <a:spcPts val="2300"/>
              </a:lnSpc>
              <a:buNone/>
            </a:pPr>
            <a:r>
              <a:rPr lang="ru-RU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Noto Serif Medium" pitchFamily="34" charset="-122"/>
                <a:cs typeface="Times New Roman" panose="02020603050405020304" pitchFamily="18" charset="0"/>
              </a:rPr>
              <a:t>Студента ИТ-222 Ткаченко Д.В.</a:t>
            </a:r>
          </a:p>
        </p:txBody>
      </p: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A3282347-4665-4BAA-F7D0-63DCF7C2A9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2235" y="7695055"/>
            <a:ext cx="1928165" cy="478723"/>
          </a:xfrm>
          <a:prstGeom prst="rect">
            <a:avLst/>
          </a:prstGeom>
        </p:spPr>
      </p:pic>
      <p:sp>
        <p:nvSpPr>
          <p:cNvPr id="28" name="Text 1">
            <a:extLst>
              <a:ext uri="{FF2B5EF4-FFF2-40B4-BE49-F238E27FC236}">
                <a16:creationId xmlns:a16="http://schemas.microsoft.com/office/drawing/2014/main" id="{6366DF85-D1A1-95C6-0144-5452063EF332}"/>
              </a:ext>
            </a:extLst>
          </p:cNvPr>
          <p:cNvSpPr/>
          <p:nvPr/>
        </p:nvSpPr>
        <p:spPr>
          <a:xfrm>
            <a:off x="13030386" y="7770016"/>
            <a:ext cx="2011308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Слайд </a:t>
            </a:r>
            <a:fld id="{DC613CC5-E30D-4415-8AFF-C7A603C882D4}" type="slidenum">
              <a:rPr lang="ru-RU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fld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из 14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C73393B-39F0-4E33-A04F-62300C9763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86440" y="7746563"/>
            <a:ext cx="2343477" cy="388858"/>
          </a:xfrm>
          <a:prstGeom prst="rect">
            <a:avLst/>
          </a:prstGeom>
        </p:spPr>
      </p:pic>
      <p:sp>
        <p:nvSpPr>
          <p:cNvPr id="3" name="Text 1"/>
          <p:cNvSpPr/>
          <p:nvPr/>
        </p:nvSpPr>
        <p:spPr>
          <a:xfrm>
            <a:off x="420053" y="1467247"/>
            <a:ext cx="13790295" cy="383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lnSpc>
                <a:spcPts val="1500"/>
              </a:lnSpc>
              <a:buNone/>
            </a:pPr>
            <a:r>
              <a:rPr lang="en-US" sz="1200" dirty="0">
                <a:solidFill>
                  <a:srgbClr val="4C4C4C"/>
                </a:solidFill>
                <a:latin typeface="Times New Roman" panose="02020603050405020304" pitchFamily="18" charset="0"/>
                <a:ea typeface="Noto Serif" pitchFamily="34" charset="-122"/>
                <a:cs typeface="Times New Roman" panose="02020603050405020304" pitchFamily="18" charset="0"/>
              </a:rPr>
              <a:t>Внедрение нашего прототипа мультисервисного приложения станет основой для глубокой цифровой трансформации внутренних процессов ВТБ. Это не просто оптимизация текущих операций, а создание единой экосистемы, которая объединит все сервисы для сотрудников, обеспечивая бесшовное взаимодействие, повышая эффективность и укрепляя позиции банка как лидера в инновациях и управлении ресурсами.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9669" y="2386211"/>
            <a:ext cx="7834455" cy="5360352"/>
          </a:xfrm>
          <a:prstGeom prst="rect">
            <a:avLst/>
          </a:prstGeom>
        </p:spPr>
      </p:pic>
      <p:sp>
        <p:nvSpPr>
          <p:cNvPr id="6" name="Text 1">
            <a:extLst>
              <a:ext uri="{FF2B5EF4-FFF2-40B4-BE49-F238E27FC236}">
                <a16:creationId xmlns:a16="http://schemas.microsoft.com/office/drawing/2014/main" id="{3B5B9028-F0E5-1D92-C80C-5CD426790EE1}"/>
              </a:ext>
            </a:extLst>
          </p:cNvPr>
          <p:cNvSpPr/>
          <p:nvPr/>
        </p:nvSpPr>
        <p:spPr>
          <a:xfrm>
            <a:off x="13030386" y="7797115"/>
            <a:ext cx="2011308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Слайд </a:t>
            </a:r>
            <a:fld id="{DC613CC5-E30D-4415-8AFF-C7A603C882D4}" type="slidenum">
              <a:rPr lang="ru-RU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fld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из 13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0">
            <a:extLst>
              <a:ext uri="{FF2B5EF4-FFF2-40B4-BE49-F238E27FC236}">
                <a16:creationId xmlns:a16="http://schemas.microsoft.com/office/drawing/2014/main" id="{71E97621-F8AD-9CF2-4E80-7B7ABFB04E4D}"/>
              </a:ext>
            </a:extLst>
          </p:cNvPr>
          <p:cNvSpPr/>
          <p:nvPr/>
        </p:nvSpPr>
        <p:spPr>
          <a:xfrm>
            <a:off x="471488" y="914440"/>
            <a:ext cx="4040624" cy="421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ru-RU" sz="2650" dirty="0">
                <a:solidFill>
                  <a:srgbClr val="3A3A3A"/>
                </a:solidFill>
                <a:latin typeface="Times New Roman" panose="02020603050405020304" pitchFamily="18" charset="0"/>
                <a:ea typeface="Noto Serif Medium" pitchFamily="34" charset="-122"/>
                <a:cs typeface="Times New Roman" panose="02020603050405020304" pitchFamily="18" charset="0"/>
              </a:rPr>
              <a:t>Заключение</a:t>
            </a:r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C86B74B3-9339-3544-2849-5805B0C4482C}"/>
              </a:ext>
            </a:extLst>
          </p:cNvPr>
          <p:cNvSpPr/>
          <p:nvPr/>
        </p:nvSpPr>
        <p:spPr>
          <a:xfrm>
            <a:off x="425026" y="159012"/>
            <a:ext cx="11215431" cy="705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ru-RU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Noto Serif Medium" pitchFamily="34" charset="-122"/>
                <a:cs typeface="Times New Roman" panose="02020603050405020304" pitchFamily="18" charset="0"/>
              </a:rPr>
              <a:t>Разработка прототипа мультисервисного приложения для автоматизации внутренних бизнес-процессов для руководителей ВТБ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Noto Serif Medium" pitchFamily="34" charset="-122"/>
                <a:cs typeface="Times New Roman" panose="02020603050405020304" pitchFamily="18" charset="0"/>
              </a:rPr>
              <a:t> </a:t>
            </a:r>
            <a:endParaRPr lang="ru-RU" dirty="0">
              <a:solidFill>
                <a:schemeClr val="bg2">
                  <a:lumMod val="75000"/>
                </a:schemeClr>
              </a:solidFill>
              <a:latin typeface="Times New Roman" panose="02020603050405020304" pitchFamily="18" charset="0"/>
              <a:ea typeface="Noto Serif Medium" pitchFamily="34" charset="-122"/>
              <a:cs typeface="Times New Roman" panose="02020603050405020304" pitchFamily="18" charset="0"/>
            </a:endParaRPr>
          </a:p>
          <a:p>
            <a:pPr marL="0" indent="0" algn="l">
              <a:lnSpc>
                <a:spcPts val="2300"/>
              </a:lnSpc>
              <a:buNone/>
            </a:pPr>
            <a:r>
              <a:rPr lang="ru-RU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Noto Serif Medium" pitchFamily="34" charset="-122"/>
                <a:cs typeface="Times New Roman" panose="02020603050405020304" pitchFamily="18" charset="0"/>
              </a:rPr>
              <a:t>Студента ИТ-222 Ткаченко Д.В.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1A41E87-6658-F879-29B0-7ED17E2E0A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2235" y="7695055"/>
            <a:ext cx="1928165" cy="478723"/>
          </a:xfrm>
          <a:prstGeom prst="rect">
            <a:avLst/>
          </a:prstGeom>
        </p:spPr>
      </p:pic>
      <p:sp>
        <p:nvSpPr>
          <p:cNvPr id="9" name="Text 1">
            <a:extLst>
              <a:ext uri="{FF2B5EF4-FFF2-40B4-BE49-F238E27FC236}">
                <a16:creationId xmlns:a16="http://schemas.microsoft.com/office/drawing/2014/main" id="{51EE6C04-3CF9-B59B-116C-07A510951C09}"/>
              </a:ext>
            </a:extLst>
          </p:cNvPr>
          <p:cNvSpPr/>
          <p:nvPr/>
        </p:nvSpPr>
        <p:spPr>
          <a:xfrm>
            <a:off x="13030386" y="7770016"/>
            <a:ext cx="2011308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Слайд </a:t>
            </a:r>
            <a:fld id="{DC613CC5-E30D-4415-8AFF-C7A603C882D4}" type="slidenum">
              <a:rPr lang="ru-RU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fld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из 14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219</TotalTime>
  <Words>1846</Words>
  <Application>Microsoft Office PowerPoint</Application>
  <PresentationFormat>Произвольный</PresentationFormat>
  <Paragraphs>228</Paragraphs>
  <Slides>14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9" baseType="lpstr">
      <vt:lpstr>Aptos</vt:lpstr>
      <vt:lpstr>Arial</vt:lpstr>
      <vt:lpstr>quote-cjk-patch</vt:lpstr>
      <vt:lpstr>Times New Roman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Пётр Смирнов</dc:creator>
  <cp:lastModifiedBy>Diablo4 Goose</cp:lastModifiedBy>
  <cp:revision>19</cp:revision>
  <dcterms:created xsi:type="dcterms:W3CDTF">2025-09-26T16:46:38Z</dcterms:created>
  <dcterms:modified xsi:type="dcterms:W3CDTF">2026-04-08T12:09:31Z</dcterms:modified>
</cp:coreProperties>
</file>